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c227dc6d-3824-bf28-bcf4-702760f4e750}">
          <p14:sldIdLst>
            <p14:sldId id="256"/>
            <p14:sldId id="257"/>
          </p14:sldIdLst>
        </p14:section>
        <p14:section name="(i) O problema" id="{b96bedf3-1478-6ed3-9f49-2269490e4b0c}">
          <p14:sldIdLst>
            <p14:sldId id="258"/>
            <p14:sldId id="259"/>
          </p14:sldIdLst>
        </p14:section>
        <p14:section name="(ii) Hipótese dinâmica" id="{33293fc0-4da3-2321-2288-f8d7457de2f4}">
          <p14:sldIdLst>
            <p14:sldId id="260"/>
          </p14:sldIdLst>
        </p14:section>
        <p14:section name="(iii) O modelo" id="{84b88730-23f0-3325-7a38-5e74ad4794c8}">
          <p14:sldIdLst>
            <p14:sldId id="261"/>
            <p14:sldId id="262"/>
            <p14:sldId id="263"/>
          </p14:sldIdLst>
        </p14:section>
        <p14:section name="(iv) Resultados" id="{18a5cd53-4346-c1ea-cbca-4ea4f1207fe8}">
          <p14:sldIdLst>
            <p14:sldId id="264"/>
            <p14:sldId id="265"/>
          </p14:sldIdLst>
        </p14:section>
        <p14:section name="(v) Aprendizagem" id="{efbc5f32-f236-0801-dbf8-61c84cd4ef4e}">
          <p14:sldIdLst>
            <p14:sldId id="266"/>
            <p14:sldId id="267"/>
          </p14:sldIdLst>
        </p14:section>
        <p14:section name="(vi) Conclusões" id="{5585b401-483b-92c2-344e-9fe88d6654b0}">
          <p14:sldIdLst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16365C"/>
                </a:solidFill>
                <a:latin typeface="+mn-lt"/>
              </a:defRPr>
            </a:pPr>
            <a:r>
              <a:rPr sz="1200" b="1" i="0" u="none" strike="noStrike">
                <a:solidFill>
                  <a:srgbClr val="16365C"/>
                </a:solidFill>
                <a:latin typeface="+mn-lt"/>
              </a:rPr>
              <a:t>Progresso percebido × real (%)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Percebido (gerência)</c:v>
                </c:pt>
              </c:strCache>
            </c:strRef>
          </c:tx>
          <c:spPr>
            <a:solidFill>
              <a:srgbClr val="5A6878"/>
            </a:solidFill>
            <a:ln w="28575" cap="flat">
              <a:solidFill>
                <a:srgbClr val="5A687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5A6878"/>
              </a:solidFill>
              <a:ln w="9525" cap="flat">
                <a:solidFill>
                  <a:srgbClr val="5A687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Sheet1!$A$2:$A$54</c:f>
              <c:multiLvlStrCache>
                <c:ptCount val="53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  <c:pt idx="24">
                    <c:v>24</c:v>
                  </c:pt>
                  <c:pt idx="25">
                    <c:v>25</c:v>
                  </c:pt>
                  <c:pt idx="26">
                    <c:v>26</c:v>
                  </c:pt>
                  <c:pt idx="27">
                    <c:v>27</c:v>
                  </c:pt>
                  <c:pt idx="28">
                    <c:v>28</c:v>
                  </c:pt>
                  <c:pt idx="29">
                    <c:v>29</c:v>
                  </c:pt>
                  <c:pt idx="30">
                    <c:v>30</c:v>
                  </c:pt>
                  <c:pt idx="31">
                    <c:v>31</c:v>
                  </c:pt>
                  <c:pt idx="32">
                    <c:v>32</c:v>
                  </c:pt>
                  <c:pt idx="33">
                    <c:v>33</c:v>
                  </c:pt>
                  <c:pt idx="34">
                    <c:v>34</c:v>
                  </c:pt>
                  <c:pt idx="35">
                    <c:v>35</c:v>
                  </c:pt>
                  <c:pt idx="36">
                    <c:v>36</c:v>
                  </c:pt>
                  <c:pt idx="37">
                    <c:v>37</c:v>
                  </c:pt>
                  <c:pt idx="38">
                    <c:v>38</c:v>
                  </c:pt>
                  <c:pt idx="39">
                    <c:v>39</c:v>
                  </c:pt>
                  <c:pt idx="40">
                    <c:v>40</c:v>
                  </c:pt>
                  <c:pt idx="41">
                    <c:v>41</c:v>
                  </c:pt>
                  <c:pt idx="42">
                    <c:v>42</c:v>
                  </c:pt>
                  <c:pt idx="43">
                    <c:v>43</c:v>
                  </c:pt>
                  <c:pt idx="44">
                    <c:v>44</c:v>
                  </c:pt>
                  <c:pt idx="45">
                    <c:v>45</c:v>
                  </c:pt>
                  <c:pt idx="46">
                    <c:v>46</c:v>
                  </c:pt>
                  <c:pt idx="47">
                    <c:v>47</c:v>
                  </c:pt>
                  <c:pt idx="48">
                    <c:v>48</c:v>
                  </c:pt>
                  <c:pt idx="49">
                    <c:v>49</c:v>
                  </c:pt>
                  <c:pt idx="50">
                    <c:v>50</c:v>
                  </c:pt>
                  <c:pt idx="51">
                    <c:v>51</c:v>
                  </c:pt>
                  <c:pt idx="52">
                    <c:v>52</c:v>
                  </c:pt>
                </c:lvl>
              </c:multiLvlStrCache>
            </c:multiLvlStrRef>
          </c:cat>
          <c:val>
            <c:numRef>
              <c:f>Sheet1!$B$2:$B$54</c:f>
              <c:numCache>
                <c:formatCode>General</c:formatCode>
                <c:ptCount val="53"/>
                <c:pt idx="0">
                  <c:v>0</c:v>
                </c:pt>
                <c:pt idx="1">
                  <c:v>3.4</c:v>
                </c:pt>
                <c:pt idx="2">
                  <c:v>6.8</c:v>
                </c:pt>
                <c:pt idx="3">
                  <c:v>10.1</c:v>
                </c:pt>
                <c:pt idx="4">
                  <c:v>13.3</c:v>
                </c:pt>
                <c:pt idx="5">
                  <c:v>16.2</c:v>
                </c:pt>
                <c:pt idx="6">
                  <c:v>19</c:v>
                </c:pt>
                <c:pt idx="7">
                  <c:v>21.7</c:v>
                </c:pt>
                <c:pt idx="8">
                  <c:v>24.4</c:v>
                </c:pt>
                <c:pt idx="9">
                  <c:v>26.9</c:v>
                </c:pt>
                <c:pt idx="10">
                  <c:v>29.4</c:v>
                </c:pt>
                <c:pt idx="11">
                  <c:v>31.8</c:v>
                </c:pt>
                <c:pt idx="12">
                  <c:v>34.1</c:v>
                </c:pt>
                <c:pt idx="13">
                  <c:v>36.4</c:v>
                </c:pt>
                <c:pt idx="14">
                  <c:v>38.6</c:v>
                </c:pt>
                <c:pt idx="15">
                  <c:v>40.8</c:v>
                </c:pt>
                <c:pt idx="16">
                  <c:v>42.9</c:v>
                </c:pt>
                <c:pt idx="17">
                  <c:v>45</c:v>
                </c:pt>
                <c:pt idx="18">
                  <c:v>47.1</c:v>
                </c:pt>
                <c:pt idx="19">
                  <c:v>49.1</c:v>
                </c:pt>
                <c:pt idx="20">
                  <c:v>51.1</c:v>
                </c:pt>
                <c:pt idx="21">
                  <c:v>53.1</c:v>
                </c:pt>
                <c:pt idx="22">
                  <c:v>55.1</c:v>
                </c:pt>
                <c:pt idx="23">
                  <c:v>57.1</c:v>
                </c:pt>
                <c:pt idx="24">
                  <c:v>59</c:v>
                </c:pt>
                <c:pt idx="25">
                  <c:v>61</c:v>
                </c:pt>
                <c:pt idx="26">
                  <c:v>63</c:v>
                </c:pt>
                <c:pt idx="27">
                  <c:v>65.1</c:v>
                </c:pt>
                <c:pt idx="28">
                  <c:v>67.1</c:v>
                </c:pt>
                <c:pt idx="29">
                  <c:v>69.2</c:v>
                </c:pt>
                <c:pt idx="30">
                  <c:v>71.2</c:v>
                </c:pt>
                <c:pt idx="31">
                  <c:v>74.2</c:v>
                </c:pt>
                <c:pt idx="32">
                  <c:v>77.1</c:v>
                </c:pt>
                <c:pt idx="33">
                  <c:v>80.2</c:v>
                </c:pt>
                <c:pt idx="34">
                  <c:v>83.4</c:v>
                </c:pt>
                <c:pt idx="35">
                  <c:v>86.6</c:v>
                </c:pt>
                <c:pt idx="36">
                  <c:v>89.3</c:v>
                </c:pt>
                <c:pt idx="37">
                  <c:v>91.3</c:v>
                </c:pt>
                <c:pt idx="38">
                  <c:v>92.7</c:v>
                </c:pt>
                <c:pt idx="39">
                  <c:v>93.7</c:v>
                </c:pt>
                <c:pt idx="40">
                  <c:v>94.3</c:v>
                </c:pt>
                <c:pt idx="41">
                  <c:v>94.9</c:v>
                </c:pt>
                <c:pt idx="42">
                  <c:v>95.3</c:v>
                </c:pt>
                <c:pt idx="43">
                  <c:v>95.8</c:v>
                </c:pt>
                <c:pt idx="44">
                  <c:v>96.2</c:v>
                </c:pt>
                <c:pt idx="45">
                  <c:v>96.7</c:v>
                </c:pt>
                <c:pt idx="46">
                  <c:v>97.1</c:v>
                </c:pt>
                <c:pt idx="47">
                  <c:v>97.5</c:v>
                </c:pt>
                <c:pt idx="48">
                  <c:v>98</c:v>
                </c:pt>
                <c:pt idx="49">
                  <c:v>98.4</c:v>
                </c:pt>
                <c:pt idx="50">
                  <c:v>98.8</c:v>
                </c:pt>
                <c:pt idx="51">
                  <c:v>99.2</c:v>
                </c:pt>
                <c:pt idx="52">
                  <c:v>99.2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Real</c:v>
                </c:pt>
              </c:strCache>
            </c:strRef>
          </c:tx>
          <c:spPr>
            <a:solidFill>
              <a:srgbClr val="C8461B"/>
            </a:solidFill>
            <a:ln w="28575" cap="flat">
              <a:solidFill>
                <a:srgbClr val="C8461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8461B"/>
              </a:solidFill>
              <a:ln w="9525" cap="flat">
                <a:solidFill>
                  <a:srgbClr val="C8461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Sheet1!$A$2:$A$54</c:f>
              <c:multiLvlStrCache>
                <c:ptCount val="53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  <c:pt idx="24">
                    <c:v>24</c:v>
                  </c:pt>
                  <c:pt idx="25">
                    <c:v>25</c:v>
                  </c:pt>
                  <c:pt idx="26">
                    <c:v>26</c:v>
                  </c:pt>
                  <c:pt idx="27">
                    <c:v>27</c:v>
                  </c:pt>
                  <c:pt idx="28">
                    <c:v>28</c:v>
                  </c:pt>
                  <c:pt idx="29">
                    <c:v>29</c:v>
                  </c:pt>
                  <c:pt idx="30">
                    <c:v>30</c:v>
                  </c:pt>
                  <c:pt idx="31">
                    <c:v>31</c:v>
                  </c:pt>
                  <c:pt idx="32">
                    <c:v>32</c:v>
                  </c:pt>
                  <c:pt idx="33">
                    <c:v>33</c:v>
                  </c:pt>
                  <c:pt idx="34">
                    <c:v>34</c:v>
                  </c:pt>
                  <c:pt idx="35">
                    <c:v>35</c:v>
                  </c:pt>
                  <c:pt idx="36">
                    <c:v>36</c:v>
                  </c:pt>
                  <c:pt idx="37">
                    <c:v>37</c:v>
                  </c:pt>
                  <c:pt idx="38">
                    <c:v>38</c:v>
                  </c:pt>
                  <c:pt idx="39">
                    <c:v>39</c:v>
                  </c:pt>
                  <c:pt idx="40">
                    <c:v>40</c:v>
                  </c:pt>
                  <c:pt idx="41">
                    <c:v>41</c:v>
                  </c:pt>
                  <c:pt idx="42">
                    <c:v>42</c:v>
                  </c:pt>
                  <c:pt idx="43">
                    <c:v>43</c:v>
                  </c:pt>
                  <c:pt idx="44">
                    <c:v>44</c:v>
                  </c:pt>
                  <c:pt idx="45">
                    <c:v>45</c:v>
                  </c:pt>
                  <c:pt idx="46">
                    <c:v>46</c:v>
                  </c:pt>
                  <c:pt idx="47">
                    <c:v>47</c:v>
                  </c:pt>
                  <c:pt idx="48">
                    <c:v>48</c:v>
                  </c:pt>
                  <c:pt idx="49">
                    <c:v>49</c:v>
                  </c:pt>
                  <c:pt idx="50">
                    <c:v>50</c:v>
                  </c:pt>
                  <c:pt idx="51">
                    <c:v>51</c:v>
                  </c:pt>
                  <c:pt idx="52">
                    <c:v>52</c:v>
                  </c:pt>
                </c:lvl>
              </c:multiLvlStrCache>
            </c:multiLvlStrRef>
          </c:cat>
          <c:val>
            <c:numRef>
              <c:f>Sheet1!$C$2:$C$54</c:f>
              <c:numCache>
                <c:formatCode>General</c:formatCode>
                <c:ptCount val="53"/>
                <c:pt idx="0">
                  <c:v>0</c:v>
                </c:pt>
                <c:pt idx="1">
                  <c:v>2.8</c:v>
                </c:pt>
                <c:pt idx="2">
                  <c:v>5.5</c:v>
                </c:pt>
                <c:pt idx="3">
                  <c:v>8.3</c:v>
                </c:pt>
                <c:pt idx="4">
                  <c:v>11.1</c:v>
                </c:pt>
                <c:pt idx="5">
                  <c:v>13.6</c:v>
                </c:pt>
                <c:pt idx="6">
                  <c:v>16</c:v>
                </c:pt>
                <c:pt idx="7">
                  <c:v>18.4</c:v>
                </c:pt>
                <c:pt idx="8">
                  <c:v>20.7</c:v>
                </c:pt>
                <c:pt idx="9">
                  <c:v>23</c:v>
                </c:pt>
                <c:pt idx="10">
                  <c:v>25.2</c:v>
                </c:pt>
                <c:pt idx="11">
                  <c:v>27.4</c:v>
                </c:pt>
                <c:pt idx="12">
                  <c:v>29.5</c:v>
                </c:pt>
                <c:pt idx="13">
                  <c:v>31.6</c:v>
                </c:pt>
                <c:pt idx="14">
                  <c:v>33.7</c:v>
                </c:pt>
                <c:pt idx="15">
                  <c:v>35.7</c:v>
                </c:pt>
                <c:pt idx="16">
                  <c:v>37.7</c:v>
                </c:pt>
                <c:pt idx="17">
                  <c:v>39.6</c:v>
                </c:pt>
                <c:pt idx="18">
                  <c:v>41.5</c:v>
                </c:pt>
                <c:pt idx="19">
                  <c:v>43.3</c:v>
                </c:pt>
                <c:pt idx="20">
                  <c:v>45.2</c:v>
                </c:pt>
                <c:pt idx="21">
                  <c:v>46.9</c:v>
                </c:pt>
                <c:pt idx="22">
                  <c:v>48.7</c:v>
                </c:pt>
                <c:pt idx="23">
                  <c:v>50.5</c:v>
                </c:pt>
                <c:pt idx="24">
                  <c:v>52.2</c:v>
                </c:pt>
                <c:pt idx="25">
                  <c:v>53.9</c:v>
                </c:pt>
                <c:pt idx="26">
                  <c:v>55.6</c:v>
                </c:pt>
                <c:pt idx="27">
                  <c:v>57.3</c:v>
                </c:pt>
                <c:pt idx="28">
                  <c:v>58.9</c:v>
                </c:pt>
                <c:pt idx="29">
                  <c:v>60.6</c:v>
                </c:pt>
                <c:pt idx="30">
                  <c:v>62.1</c:v>
                </c:pt>
                <c:pt idx="31">
                  <c:v>64.8</c:v>
                </c:pt>
                <c:pt idx="32">
                  <c:v>67.6</c:v>
                </c:pt>
                <c:pt idx="33">
                  <c:v>70.6</c:v>
                </c:pt>
                <c:pt idx="34">
                  <c:v>73.8</c:v>
                </c:pt>
                <c:pt idx="35">
                  <c:v>77.2</c:v>
                </c:pt>
                <c:pt idx="36">
                  <c:v>80.3</c:v>
                </c:pt>
                <c:pt idx="37">
                  <c:v>83.1</c:v>
                </c:pt>
                <c:pt idx="38">
                  <c:v>85.5</c:v>
                </c:pt>
                <c:pt idx="39">
                  <c:v>87.5</c:v>
                </c:pt>
                <c:pt idx="40">
                  <c:v>89.3</c:v>
                </c:pt>
                <c:pt idx="41">
                  <c:v>90.9</c:v>
                </c:pt>
                <c:pt idx="42">
                  <c:v>92.2</c:v>
                </c:pt>
                <c:pt idx="43">
                  <c:v>93.4</c:v>
                </c:pt>
                <c:pt idx="44">
                  <c:v>94.4</c:v>
                </c:pt>
                <c:pt idx="45">
                  <c:v>95.4</c:v>
                </c:pt>
                <c:pt idx="46">
                  <c:v>96.2</c:v>
                </c:pt>
                <c:pt idx="47">
                  <c:v>96.9</c:v>
                </c:pt>
                <c:pt idx="48">
                  <c:v>97.6</c:v>
                </c:pt>
                <c:pt idx="49">
                  <c:v>98.1</c:v>
                </c:pt>
                <c:pt idx="50">
                  <c:v>98.6</c:v>
                </c:pt>
                <c:pt idx="51">
                  <c:v>99</c:v>
                </c:pt>
                <c:pt idx="52">
                  <c:v>99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8C2CC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87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2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D5DCE4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87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A6878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16365C"/>
                </a:solidFill>
                <a:latin typeface="+mn-lt"/>
              </a:defRPr>
            </a:pPr>
            <a:r>
              <a:rPr sz="1200" b="1" i="0" u="none" strike="noStrike">
                <a:solidFill>
                  <a:srgbClr val="16365C"/>
                </a:solidFill>
                <a:latin typeface="+mn-lt"/>
              </a:rPr>
              <a:t>Força de trabalho, por mês (pessoas)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Sem mudanças</c:v>
                </c:pt>
              </c:strCache>
            </c:strRef>
          </c:tx>
          <c:spPr>
            <a:solidFill>
              <a:srgbClr val="1F7A8C"/>
            </a:solidFill>
            <a:ln w="28575" cap="flat">
              <a:solidFill>
                <a:srgbClr val="1F7A8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F7A8C"/>
              </a:solidFill>
              <a:ln w="9525" cap="flat">
                <a:solidFill>
                  <a:srgbClr val="1F7A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Sheet1!$A$2:$A$54</c:f>
              <c:multiLvlStrCache>
                <c:ptCount val="53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  <c:pt idx="24">
                    <c:v>24</c:v>
                  </c:pt>
                  <c:pt idx="25">
                    <c:v>25</c:v>
                  </c:pt>
                  <c:pt idx="26">
                    <c:v>26</c:v>
                  </c:pt>
                  <c:pt idx="27">
                    <c:v>27</c:v>
                  </c:pt>
                  <c:pt idx="28">
                    <c:v>28</c:v>
                  </c:pt>
                  <c:pt idx="29">
                    <c:v>29</c:v>
                  </c:pt>
                  <c:pt idx="30">
                    <c:v>30</c:v>
                  </c:pt>
                  <c:pt idx="31">
                    <c:v>31</c:v>
                  </c:pt>
                  <c:pt idx="32">
                    <c:v>32</c:v>
                  </c:pt>
                  <c:pt idx="33">
                    <c:v>33</c:v>
                  </c:pt>
                  <c:pt idx="34">
                    <c:v>34</c:v>
                  </c:pt>
                  <c:pt idx="35">
                    <c:v>35</c:v>
                  </c:pt>
                  <c:pt idx="36">
                    <c:v>36</c:v>
                  </c:pt>
                  <c:pt idx="37">
                    <c:v>37</c:v>
                  </c:pt>
                  <c:pt idx="38">
                    <c:v>38</c:v>
                  </c:pt>
                  <c:pt idx="39">
                    <c:v>39</c:v>
                  </c:pt>
                  <c:pt idx="40">
                    <c:v>40</c:v>
                  </c:pt>
                  <c:pt idx="41">
                    <c:v>41</c:v>
                  </c:pt>
                  <c:pt idx="42">
                    <c:v>42</c:v>
                  </c:pt>
                  <c:pt idx="43">
                    <c:v>43</c:v>
                  </c:pt>
                  <c:pt idx="44">
                    <c:v>44</c:v>
                  </c:pt>
                  <c:pt idx="45">
                    <c:v>45</c:v>
                  </c:pt>
                  <c:pt idx="46">
                    <c:v>46</c:v>
                  </c:pt>
                  <c:pt idx="47">
                    <c:v>47</c:v>
                  </c:pt>
                  <c:pt idx="48">
                    <c:v>48</c:v>
                  </c:pt>
                  <c:pt idx="49">
                    <c:v>49</c:v>
                  </c:pt>
                  <c:pt idx="50">
                    <c:v>50</c:v>
                  </c:pt>
                  <c:pt idx="51">
                    <c:v>51</c:v>
                  </c:pt>
                  <c:pt idx="52">
                    <c:v>52</c:v>
                  </c:pt>
                </c:lvl>
              </c:multiLvlStrCache>
            </c:multiLvlStrRef>
          </c:cat>
          <c:val>
            <c:numRef>
              <c:f>Sheet1!$B$2:$B$54</c:f>
              <c:numCache>
                <c:formatCode>General</c:formatCode>
                <c:ptCount val="53"/>
                <c:pt idx="0">
                  <c:v>34.7</c:v>
                </c:pt>
                <c:pt idx="1">
                  <c:v>34.7</c:v>
                </c:pt>
                <c:pt idx="2">
                  <c:v>34.6</c:v>
                </c:pt>
                <c:pt idx="3">
                  <c:v>34.5</c:v>
                </c:pt>
                <c:pt idx="4">
                  <c:v>34.3</c:v>
                </c:pt>
                <c:pt idx="5">
                  <c:v>34.2</c:v>
                </c:pt>
                <c:pt idx="6">
                  <c:v>34</c:v>
                </c:pt>
                <c:pt idx="7">
                  <c:v>33.8</c:v>
                </c:pt>
                <c:pt idx="8">
                  <c:v>33.7</c:v>
                </c:pt>
                <c:pt idx="9">
                  <c:v>33.5</c:v>
                </c:pt>
                <c:pt idx="10">
                  <c:v>33.4</c:v>
                </c:pt>
                <c:pt idx="11">
                  <c:v>33.2</c:v>
                </c:pt>
                <c:pt idx="12">
                  <c:v>33.1</c:v>
                </c:pt>
                <c:pt idx="13">
                  <c:v>33</c:v>
                </c:pt>
                <c:pt idx="14">
                  <c:v>32.9</c:v>
                </c:pt>
                <c:pt idx="15">
                  <c:v>32.8</c:v>
                </c:pt>
                <c:pt idx="16">
                  <c:v>32.7</c:v>
                </c:pt>
                <c:pt idx="17">
                  <c:v>32.6</c:v>
                </c:pt>
                <c:pt idx="18">
                  <c:v>32.5</c:v>
                </c:pt>
                <c:pt idx="19">
                  <c:v>32.4</c:v>
                </c:pt>
                <c:pt idx="20">
                  <c:v>32.3</c:v>
                </c:pt>
                <c:pt idx="21">
                  <c:v>32.3</c:v>
                </c:pt>
                <c:pt idx="22">
                  <c:v>32.2</c:v>
                </c:pt>
                <c:pt idx="23">
                  <c:v>32.1</c:v>
                </c:pt>
                <c:pt idx="24">
                  <c:v>32.1</c:v>
                </c:pt>
                <c:pt idx="25">
                  <c:v>32</c:v>
                </c:pt>
                <c:pt idx="26">
                  <c:v>32</c:v>
                </c:pt>
                <c:pt idx="27">
                  <c:v>31.9</c:v>
                </c:pt>
                <c:pt idx="28">
                  <c:v>31.9</c:v>
                </c:pt>
                <c:pt idx="29">
                  <c:v>31.8</c:v>
                </c:pt>
                <c:pt idx="30">
                  <c:v>31.8</c:v>
                </c:pt>
                <c:pt idx="31">
                  <c:v>31</c:v>
                </c:pt>
                <c:pt idx="32">
                  <c:v>29.1</c:v>
                </c:pt>
                <c:pt idx="33">
                  <c:v>26.4</c:v>
                </c:pt>
                <c:pt idx="34">
                  <c:v>23.5</c:v>
                </c:pt>
                <c:pt idx="35">
                  <c:v>20.6</c:v>
                </c:pt>
                <c:pt idx="36">
                  <c:v>18</c:v>
                </c:pt>
                <c:pt idx="37">
                  <c:v>15.7</c:v>
                </c:pt>
                <c:pt idx="38">
                  <c:v>13.6</c:v>
                </c:pt>
                <c:pt idx="39">
                  <c:v>11.8</c:v>
                </c:pt>
                <c:pt idx="40">
                  <c:v>10.3</c:v>
                </c:pt>
                <c:pt idx="41">
                  <c:v>8.9</c:v>
                </c:pt>
                <c:pt idx="42">
                  <c:v>7.6</c:v>
                </c:pt>
                <c:pt idx="43">
                  <c:v>6.5</c:v>
                </c:pt>
                <c:pt idx="44">
                  <c:v>5.4</c:v>
                </c:pt>
                <c:pt idx="45">
                  <c:v>5.4</c:v>
                </c:pt>
                <c:pt idx="46">
                  <c:v>5.4</c:v>
                </c:pt>
                <c:pt idx="47">
                  <c:v>5.4</c:v>
                </c:pt>
                <c:pt idx="48">
                  <c:v>5.4</c:v>
                </c:pt>
                <c:pt idx="49">
                  <c:v>5.4</c:v>
                </c:pt>
                <c:pt idx="50">
                  <c:v>5.4</c:v>
                </c:pt>
                <c:pt idx="51">
                  <c:v>5.4</c:v>
                </c:pt>
                <c:pt idx="52">
                  <c:v>5.4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 mudanças</c:v>
                </c:pt>
              </c:strCache>
            </c:strRef>
          </c:tx>
          <c:spPr>
            <a:solidFill>
              <a:srgbClr val="C8461B"/>
            </a:solidFill>
            <a:ln w="28575" cap="flat">
              <a:solidFill>
                <a:srgbClr val="C8461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8461B"/>
              </a:solidFill>
              <a:ln w="9525" cap="flat">
                <a:solidFill>
                  <a:srgbClr val="C8461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Sheet1!$A$2:$A$54</c:f>
              <c:multiLvlStrCache>
                <c:ptCount val="53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  <c:pt idx="24">
                    <c:v>24</c:v>
                  </c:pt>
                  <c:pt idx="25">
                    <c:v>25</c:v>
                  </c:pt>
                  <c:pt idx="26">
                    <c:v>26</c:v>
                  </c:pt>
                  <c:pt idx="27">
                    <c:v>27</c:v>
                  </c:pt>
                  <c:pt idx="28">
                    <c:v>28</c:v>
                  </c:pt>
                  <c:pt idx="29">
                    <c:v>29</c:v>
                  </c:pt>
                  <c:pt idx="30">
                    <c:v>30</c:v>
                  </c:pt>
                  <c:pt idx="31">
                    <c:v>31</c:v>
                  </c:pt>
                  <c:pt idx="32">
                    <c:v>32</c:v>
                  </c:pt>
                  <c:pt idx="33">
                    <c:v>33</c:v>
                  </c:pt>
                  <c:pt idx="34">
                    <c:v>34</c:v>
                  </c:pt>
                  <c:pt idx="35">
                    <c:v>35</c:v>
                  </c:pt>
                  <c:pt idx="36">
                    <c:v>36</c:v>
                  </c:pt>
                  <c:pt idx="37">
                    <c:v>37</c:v>
                  </c:pt>
                  <c:pt idx="38">
                    <c:v>38</c:v>
                  </c:pt>
                  <c:pt idx="39">
                    <c:v>39</c:v>
                  </c:pt>
                  <c:pt idx="40">
                    <c:v>40</c:v>
                  </c:pt>
                  <c:pt idx="41">
                    <c:v>41</c:v>
                  </c:pt>
                  <c:pt idx="42">
                    <c:v>42</c:v>
                  </c:pt>
                  <c:pt idx="43">
                    <c:v>43</c:v>
                  </c:pt>
                  <c:pt idx="44">
                    <c:v>44</c:v>
                  </c:pt>
                  <c:pt idx="45">
                    <c:v>45</c:v>
                  </c:pt>
                  <c:pt idx="46">
                    <c:v>46</c:v>
                  </c:pt>
                  <c:pt idx="47">
                    <c:v>47</c:v>
                  </c:pt>
                  <c:pt idx="48">
                    <c:v>48</c:v>
                  </c:pt>
                  <c:pt idx="49">
                    <c:v>49</c:v>
                  </c:pt>
                  <c:pt idx="50">
                    <c:v>50</c:v>
                  </c:pt>
                  <c:pt idx="51">
                    <c:v>51</c:v>
                  </c:pt>
                  <c:pt idx="52">
                    <c:v>52</c:v>
                  </c:pt>
                </c:lvl>
              </c:multiLvlStrCache>
            </c:multiLvlStrRef>
          </c:cat>
          <c:val>
            <c:numRef>
              <c:f>Sheet1!$C$2:$C$54</c:f>
              <c:numCache>
                <c:formatCode>General</c:formatCode>
                <c:ptCount val="53"/>
                <c:pt idx="0">
                  <c:v>34.7</c:v>
                </c:pt>
                <c:pt idx="1">
                  <c:v>34.7</c:v>
                </c:pt>
                <c:pt idx="2">
                  <c:v>34.6</c:v>
                </c:pt>
                <c:pt idx="3">
                  <c:v>34.5</c:v>
                </c:pt>
                <c:pt idx="4">
                  <c:v>34.3</c:v>
                </c:pt>
                <c:pt idx="5">
                  <c:v>34.2</c:v>
                </c:pt>
                <c:pt idx="6">
                  <c:v>34.1</c:v>
                </c:pt>
                <c:pt idx="7">
                  <c:v>34</c:v>
                </c:pt>
                <c:pt idx="8">
                  <c:v>33.9</c:v>
                </c:pt>
                <c:pt idx="9">
                  <c:v>33.9</c:v>
                </c:pt>
                <c:pt idx="10">
                  <c:v>33.9</c:v>
                </c:pt>
                <c:pt idx="11">
                  <c:v>33.9</c:v>
                </c:pt>
                <c:pt idx="12">
                  <c:v>34</c:v>
                </c:pt>
                <c:pt idx="13">
                  <c:v>34.1</c:v>
                </c:pt>
                <c:pt idx="14">
                  <c:v>34.3</c:v>
                </c:pt>
                <c:pt idx="15">
                  <c:v>34.5</c:v>
                </c:pt>
                <c:pt idx="16">
                  <c:v>34.8</c:v>
                </c:pt>
                <c:pt idx="17">
                  <c:v>35.1</c:v>
                </c:pt>
                <c:pt idx="18">
                  <c:v>35.5</c:v>
                </c:pt>
                <c:pt idx="19">
                  <c:v>35.9</c:v>
                </c:pt>
                <c:pt idx="20">
                  <c:v>36.5</c:v>
                </c:pt>
                <c:pt idx="21">
                  <c:v>37.1</c:v>
                </c:pt>
                <c:pt idx="22">
                  <c:v>37.8</c:v>
                </c:pt>
                <c:pt idx="23">
                  <c:v>38.6</c:v>
                </c:pt>
                <c:pt idx="24">
                  <c:v>39.5</c:v>
                </c:pt>
                <c:pt idx="25">
                  <c:v>40.7</c:v>
                </c:pt>
                <c:pt idx="26">
                  <c:v>42</c:v>
                </c:pt>
                <c:pt idx="27">
                  <c:v>43.5</c:v>
                </c:pt>
                <c:pt idx="28">
                  <c:v>45.3</c:v>
                </c:pt>
                <c:pt idx="29">
                  <c:v>47.5</c:v>
                </c:pt>
                <c:pt idx="30">
                  <c:v>50.3</c:v>
                </c:pt>
                <c:pt idx="31">
                  <c:v>52.3</c:v>
                </c:pt>
                <c:pt idx="32">
                  <c:v>51.9</c:v>
                </c:pt>
                <c:pt idx="33">
                  <c:v>49.8</c:v>
                </c:pt>
                <c:pt idx="34">
                  <c:v>46.5</c:v>
                </c:pt>
                <c:pt idx="35">
                  <c:v>42.1</c:v>
                </c:pt>
                <c:pt idx="36">
                  <c:v>37.2</c:v>
                </c:pt>
                <c:pt idx="37">
                  <c:v>32.3</c:v>
                </c:pt>
                <c:pt idx="38">
                  <c:v>27.8</c:v>
                </c:pt>
                <c:pt idx="39">
                  <c:v>23.9</c:v>
                </c:pt>
                <c:pt idx="40">
                  <c:v>20.6</c:v>
                </c:pt>
                <c:pt idx="41">
                  <c:v>17.9</c:v>
                </c:pt>
                <c:pt idx="42">
                  <c:v>15.7</c:v>
                </c:pt>
                <c:pt idx="43">
                  <c:v>13.9</c:v>
                </c:pt>
                <c:pt idx="44">
                  <c:v>12.3</c:v>
                </c:pt>
                <c:pt idx="45">
                  <c:v>10.9</c:v>
                </c:pt>
                <c:pt idx="46">
                  <c:v>9.6</c:v>
                </c:pt>
                <c:pt idx="47">
                  <c:v>8.5</c:v>
                </c:pt>
                <c:pt idx="48">
                  <c:v>7.4</c:v>
                </c:pt>
                <c:pt idx="49">
                  <c:v>6.3</c:v>
                </c:pt>
                <c:pt idx="50">
                  <c:v>5.3</c:v>
                </c:pt>
                <c:pt idx="51">
                  <c:v>4.4</c:v>
                </c:pt>
                <c:pt idx="52">
                  <c:v>4.4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8C2CC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87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2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D5DCE4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87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A6878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[~0,5 min] Abertura. Vamos apresentar o Caso B do capítulo 2 do Sterman: “On Time and Under Budget”, sobre a dinâmica da gestão de projetos. É a história do estaleiro Ingalls, que conquistou dois contratos gigantes com a Marinha dos EUA e quase faliu por atrasos, falhas de qualidade e custos acima do orçamento. A ideia central: o projeto ficou preso em seus próprios laços de realimentação.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[~0,5 min] Roteiro. Seguimos exatamente os seis pontos pedidos: (i) o problema, (ii) a hipótese dinâmica, (iii) o modelo CLD, (iv) os resultados, (v) a aprendizagem e (vi) as conclusões. Com a abertura, os tempos somam cerca de 19 minutos, dentro do limite de 20.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[~1,5 min] Contexto. Em 1969–1970 a Ingalls Shipbuilding, de Pascagoula (Mississippi), divisão da Litton Industries, ganhou dois programas enormes da Marinha: os navios de assalto anfíbio LHA e 30 destróieres DD-963, além de construir um estaleiro novo para isso. Durante a construção, a Marinha fez um grande volume de mudanças de projeto. Vieram atrasos, custos muito acima do orçamento e problemas de qualidade, a ponto de ameaçar a empresa. A Ingalls reivindicou cerca de US$ 500 milhões da Marinha; em 1978 as partes fecharam um acordo de US$ 447 milhões. Os três sintomas embaixo são exatamente os citados no enunciado: atrasos, falta de qualidade e custos acima do orçamento.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[~1,5 min] O problema central. Pelo contrato, a Marinha pagava o custo direto de cada mudança — refazer o desenho e a peça. Essa é a ponta do iceberg. Mas cada mudança desorganiza o resto do programa: gera retrabalho e trabalho fora de sequência, força contratações e horas extras, derruba produtividade e qualidade. São os custos de atraso e ruptura (delay &amp; disruption, D&amp;D). A pergunta da disputa era: quanto do sobrecusto vinha das mudanças da Marinha e quanto da própria gestão do estaleiro? Sem uma forma rigorosa de rastrear esse efeito-cascata, reivindicações de D&amp;D eram muito difíceis de provar.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[~2 min] Hipótese dinâmica. O sobrecusto não vem só das mudanças em si, mas da interação entre as mudanças e a estrutura de realimentação do estaleiro. A mudança gera retrabalho e atraso; o atraso aumenta a pressão de cronograma; a gerência responde do jeito “óbvio”: contrata e faz horas extras. Só que novatos produzem menos e erram mais, o estaleiro fica congestionado, a fadiga aumenta — e a qualidade cai. Resultado: mais retrabalho e mais atraso. É um laço de reforço, um ciclo vicioso, que acaba dominando os laços de controle que a gerência pretendia acionar.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[~1,5 min] A estrutura central, desenvolvida pela Pugh-Roberts Associates: o ciclo de retrabalho. O trabalho a fazer é executado por pessoas, com certa produtividade e qualidade. A fração feita corretamente vai para “realmente feito”; o restante tem erros que ninguém percebeu — o retrabalho não descoberto. Com atraso, os erros são descobertos, viram retrabalho conhecido e voltam para a fila. Por isso o projeto parece 90% pronto por muito tempo (síndrome dos 90%). As mudanças da Marinha entram aqui como obsolescência: trabalho que estava pronto volta para o ciclo.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[~2,5 min] O diagrama de laços causais. No centro, a gerência compara o trabalho remanescente com o prazo: surge a pressão de cronograma. Os laços de equilíbrio B1 (contratar) e B2 (hora extra) são as respostas pretendidas: mais gente e mais horas reduzem o trabalho remanescente. Mas cada resposta tem efeitos colaterais que formam laços de reforço: R1 — mais gente congestiona o estaleiro e derruba a produtividade; R2 — novatos produzem menos e erram mais; R3 — a pressão força trabalho fora de sequência, que gera erros; R4 — horas extras geram fadiga e erros. Os erros só são descobertos com atraso (as duas barras no arco inferior) e voltam como trabalho remanescente. As mudanças da Marinha são o choque externo que põe tudo em movimento. Quando os laços R dominam, cada tentativa de recuperar o prazo piora o projeto.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[~1 min] A modelagem implementada pela Pugh-Roberts. Primeiro, entrevistas e dados de campo. Depois, a estrutura: o ciclo de retrabalho mais os setores de mão de obra, treinamento, horas extras, produtividade e qualidade. O modelo foi calibrado até reproduzir o histórico real dos dois programas. O passo decisivo foi o contrafactual: rodar os mesmos programas sem as mudanças da Marinha — um experimento impossível no mundo real. A diferença entre as duas simulações é o custo de atraso e ruptura atribuível à Marinha. Como as premissas eram explícitas, as duas partes podiam examinar e questionar o modelo.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[~1,5 min] Resultados do caso. O modelo reproduziu o histórico e, pelo contrafactual, separou os custos causados pelas mudanças da Marinha dos custos ligados às decisões do próprio estaleiro. O efeito-cascata, antes visto como impossível de provar, ganhou uma estimativa defensável. Em 1978 a Marinha e a Litton fecharam um acordo extrajudicial de US$ 447 milhões, perto de 90% dos cerca de US$ 500 milhões reivindicados. Depois disso, o modelo passou a ser usado na gestão de novos programas, e a abordagem do ciclo de retrabalho foi levada a muitos outros projetos (Cooper, 1980). Os números do caso estão no Sterman, §2.3.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[~1,5 min] Para entender o mecanismo, montamos um modelo simplificado do ciclo de retrabalho (arquivo simulacao.js), com novatos, congestionamento, horas extras, fadiga e trabalho fora de sequência. Não são os dados da Ingalls: é uma ilustração. Comparamos o mesmo projeto com e sem mudanças do cliente. À esquerda, a síndrome dos 90%: no prazo (mês 36) a gerência acredita estar com 89% do trabalho pronto, mas o real é 80% — o retrabalho escondido só aparece depois. À direita, a resposta gerencial: com as mudanças, a força de trabalho chega a 52 pessoas, contra 35 sem mudanças. Refazer apenas o que mudou custaria 200 pessoas-mês, mas o custo extra total foi 417: o efeito-cascata é 2,1 vezes o custo direto, e o projeto termina 6 meses mais tarde. É exatamente o tipo de diferença que o modelo da Pugh-Roberts quantificou na disputa.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[~1,5 min] Aprendizagem, ligando ao capítulo 1 do Sterman (seções 1.3.7 a 1.3.9). Primeiro, o teste de Wason: com as cartas E, K, 4 e 7, menos de 4% acertam que é preciso virar o E e o 7. Tendemos a buscar evidências que confirmam nossas crenças. No caso, o progresso relatado parecia bom porque o retrabalho escondido não aparecia. Segundo, rotinas defensivas: numa disputa adversarial, cada lado defende sua versão e não testa hipóteses rivais. Terceiro, falha de implementação: a decisão “contratar mais gente” virou, na prática, novatos, congestionamento e trabalho fora de sequência. E, por fim, a irreversibilidade: não dá para repetir um programa de destróieres para testar outra política.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[~1,5 min] O capítulo 1 (seção 1.4) mostra como superar essas barreiras com mundos virtuais. No estaleiro real, experimentos são impossíveis, o feedback demora anos e é contestado, e cada lado opera com seu próprio modelo mental. No modelo, dá para rodar o cenário “sem mudanças” — que nunca existiu —, comprimir anos em minutos e ter feedback completo. E, como uma caixa aberta, as premissas ficam visíveis para as duas partes, o que gera confiança. Uma armadilha (seção 1.4.2): o modelo só ensina se os decisores participam da modelagem e testam hipóteses; senão vira um videogame. Como resume o Sterman: a simulação é a única forma prática de testar esses modelos.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[~2 min] Conclusões. Um: atrasos e sobrecustos são endógenos — emergem da estrutura, não só de eventos externos. Dois: mudanças custam muito mais do que o custo direto; o efeito-cascata pode e deve ser quantificado e precificado. Três: as soluções intuitivas — mais gente, mais horas — geram resistência a políticas. Quatro: o retrabalho oculto engana; medir qualidade e descobrir erros cedo vale mais do que acelerar. Cinco: simular é aprender — o modelo viabilizou o acordo e virou ferramenta de gestão. Essa mesma estrutura aparece em obras, software e projetos de TI. Obrigado!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Referências usadas na apresentação.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097280"/>
            <a:ext cx="5394960" cy="1508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53949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977640"/>
            <a:ext cx="539496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60350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1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4" name="Text 0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Caso B · On Time and Under Budget · Sterman (2000)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60350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1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4" name="Text 0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Caso B · On Time and Under Budget · Sterman (2000)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097280"/>
            <a:ext cx="53949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On Time and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Under Budget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A dinâmica da gestão de projetos no estaleiro Ingalls</a:t>
            </a:r>
            <a:endParaRPr lang="en-US" sz="1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97764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Caso B · Sterman (2000), Business Dynamics, §2.3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Análise Dinâmica de Sistemas · outubro de 2026</a:t>
            </a:r>
            <a:endParaRPr lang="en-US" sz="1200" dirty="0"/>
          </a:p>
        </p:txBody>
      </p:sp>
      <p:pic>
        <p:nvPicPr>
          <p:cNvPr id="5" name="Laço" descr="Laço de realimentação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6172200" y="1143000"/>
            <a:ext cx="2514600" cy="2514600"/>
          </a:xfrm>
          <a:prstGeom prst="rect">
            <a:avLst/>
          </a:prstGeom>
        </p:spPr>
      </p:pic>
      <p:pic>
        <p:nvPicPr>
          <p:cNvPr id="6" name="Navio" descr="Navi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7728" y="1938528"/>
            <a:ext cx="914400" cy="914400"/>
          </a:xfrm>
          <a:prstGeom prst="rect">
            <a:avLst/>
          </a:prstGeom>
        </p:spPr>
      </p:pic>
      <p:sp>
        <p:nvSpPr>
          <p:cNvPr id="7" name="Legenda capa"/>
          <p:cNvSpPr txBox="1"/>
          <p:nvPr/>
        </p:nvSpPr>
        <p:spPr>
          <a:xfrm>
            <a:off x="5989320" y="384048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bg2"/>
                </a:solidFill>
              </a:rPr>
              <a:t>um projeto preso em seus próprios laços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ROTEIRO · 20 MINUTOS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Seis perguntas guiam a apresentação</a:t>
            </a:r>
            <a:endParaRPr lang="en-US" sz="2600" dirty="0"/>
          </a:p>
        </p:txBody>
      </p:sp>
      <p:sp>
        <p:nvSpPr>
          <p:cNvPr id="4" name="Cartão i"/>
          <p:cNvSpPr/>
          <p:nvPr/>
        </p:nvSpPr>
        <p:spPr>
          <a:xfrm>
            <a:off x="457200" y="1298448"/>
            <a:ext cx="2560320" cy="1536192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58368" y="144475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(i)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2176272" y="1499616"/>
            <a:ext cx="640080" cy="256032"/>
          </a:xfrm>
          <a:prstGeom prst="roundRect">
            <a:avLst>
              <a:gd name="adj" fmla="val 21429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4"/>
                </a:solidFill>
              </a:rPr>
              <a:t>3 min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901952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O problema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2212848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Por que dois contratos gigantes quase quebraram o estaleiro?</a:t>
            </a:r>
            <a:endParaRPr lang="en-US" sz="1200" dirty="0"/>
          </a:p>
        </p:txBody>
      </p:sp>
      <p:sp>
        <p:nvSpPr>
          <p:cNvPr id="9" name="Cartão ii"/>
          <p:cNvSpPr/>
          <p:nvPr/>
        </p:nvSpPr>
        <p:spPr>
          <a:xfrm>
            <a:off x="3291840" y="1298448"/>
            <a:ext cx="2560320" cy="1536192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93008" y="144475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(ii)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5010912" y="1499616"/>
            <a:ext cx="640080" cy="256032"/>
          </a:xfrm>
          <a:prstGeom prst="roundRect">
            <a:avLst>
              <a:gd name="adj" fmla="val 21429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4"/>
                </a:solidFill>
              </a:rPr>
              <a:t>2 min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493008" y="1901952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 hipótese dinâmica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493008" y="2212848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Que estrutura gera os atrasos e os sobrecustos?</a:t>
            </a:r>
            <a:endParaRPr lang="en-US" sz="1200" dirty="0"/>
          </a:p>
        </p:txBody>
      </p:sp>
      <p:sp>
        <p:nvSpPr>
          <p:cNvPr id="14" name="Cartão iii"/>
          <p:cNvSpPr/>
          <p:nvPr/>
        </p:nvSpPr>
        <p:spPr>
          <a:xfrm>
            <a:off x="6126480" y="1298448"/>
            <a:ext cx="2560320" cy="1536192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327648" y="144475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(iii)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7845552" y="1499616"/>
            <a:ext cx="640080" cy="256032"/>
          </a:xfrm>
          <a:prstGeom prst="roundRect">
            <a:avLst>
              <a:gd name="adj" fmla="val 21429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4"/>
                </a:solidFill>
              </a:rPr>
              <a:t>5 min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327648" y="1901952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O modelo CLD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327648" y="2212848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 ciclo de retrabalho e os laços de realimentação.</a:t>
            </a:r>
            <a:endParaRPr lang="en-US" sz="1200" dirty="0"/>
          </a:p>
        </p:txBody>
      </p:sp>
      <p:sp>
        <p:nvSpPr>
          <p:cNvPr id="19" name="Cartão iv"/>
          <p:cNvSpPr/>
          <p:nvPr/>
        </p:nvSpPr>
        <p:spPr>
          <a:xfrm>
            <a:off x="457200" y="3054096"/>
            <a:ext cx="2560320" cy="1536192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8368" y="320040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(iv)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2176272" y="3255264"/>
            <a:ext cx="640080" cy="256032"/>
          </a:xfrm>
          <a:prstGeom prst="roundRect">
            <a:avLst>
              <a:gd name="adj" fmla="val 21429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4"/>
                </a:solidFill>
              </a:rPr>
              <a:t>3 min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58368" y="3657600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Os resultados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58368" y="3968496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 que a simulação mostrou — e o acordo com a Marinha.</a:t>
            </a:r>
            <a:endParaRPr lang="en-US" sz="1200" dirty="0"/>
          </a:p>
        </p:txBody>
      </p:sp>
      <p:sp>
        <p:nvSpPr>
          <p:cNvPr id="24" name="Cartão v"/>
          <p:cNvSpPr/>
          <p:nvPr/>
        </p:nvSpPr>
        <p:spPr>
          <a:xfrm>
            <a:off x="3291840" y="3054096"/>
            <a:ext cx="2560320" cy="1536192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493008" y="320040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(v)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5010912" y="3255264"/>
            <a:ext cx="640080" cy="256032"/>
          </a:xfrm>
          <a:prstGeom prst="roundRect">
            <a:avLst>
              <a:gd name="adj" fmla="val 21429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4"/>
                </a:solidFill>
              </a:rPr>
              <a:t>3 min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3493008" y="3657600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 aprendizagem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3493008" y="3968496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Barreiras ao aprendizado e o modelo como mundo virtual.</a:t>
            </a:r>
            <a:endParaRPr lang="en-US" sz="1200" dirty="0"/>
          </a:p>
        </p:txBody>
      </p:sp>
      <p:sp>
        <p:nvSpPr>
          <p:cNvPr id="29" name="Cartão vi"/>
          <p:cNvSpPr/>
          <p:nvPr/>
        </p:nvSpPr>
        <p:spPr>
          <a:xfrm>
            <a:off x="6126480" y="3054096"/>
            <a:ext cx="2560320" cy="1536192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327648" y="320040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(vi)</a:t>
            </a:r>
            <a:endParaRPr lang="en-US" sz="2400" dirty="0"/>
          </a:p>
        </p:txBody>
      </p:sp>
      <p:sp>
        <p:nvSpPr>
          <p:cNvPr id="31" name="Text 29"/>
          <p:cNvSpPr txBox="1"/>
          <p:nvPr/>
        </p:nvSpPr>
        <p:spPr>
          <a:xfrm>
            <a:off x="7845552" y="3255264"/>
            <a:ext cx="640080" cy="256032"/>
          </a:xfrm>
          <a:prstGeom prst="roundRect">
            <a:avLst>
              <a:gd name="adj" fmla="val 21429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4"/>
                </a:solidFill>
              </a:rPr>
              <a:t>2 min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6327648" y="3657600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As conclusões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6327648" y="3968496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Lições que valem para qualquer projeto complexo.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(i)  O PROBLEMA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Dois contratos gigantes, quase uma falência</a:t>
            </a:r>
            <a:endParaRPr lang="en-US" sz="2600" dirty="0"/>
          </a:p>
        </p:txBody>
      </p:sp>
      <p:sp>
        <p:nvSpPr>
          <p:cNvPr id="4" name="Progresso i"/>
          <p:cNvSpPr txBox="1"/>
          <p:nvPr/>
        </p:nvSpPr>
        <p:spPr>
          <a:xfrm>
            <a:off x="6720840" y="274320"/>
            <a:ext cx="274320" cy="27432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i</a:t>
            </a:r>
            <a:endParaRPr lang="en-US" sz="1000" dirty="0"/>
          </a:p>
        </p:txBody>
      </p:sp>
      <p:sp>
        <p:nvSpPr>
          <p:cNvPr id="5" name="Progresso ii"/>
          <p:cNvSpPr txBox="1"/>
          <p:nvPr/>
        </p:nvSpPr>
        <p:spPr>
          <a:xfrm>
            <a:off x="7059168" y="274320"/>
            <a:ext cx="274320" cy="274320"/>
          </a:xfrm>
          <a:prstGeom prst="ellipse">
            <a:avLst/>
          </a:prstGeom>
          <a:noFill/>
          <a:ln w="9525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ii</a:t>
            </a:r>
            <a:endParaRPr lang="en-US" sz="1000" dirty="0"/>
          </a:p>
        </p:txBody>
      </p:sp>
      <p:sp>
        <p:nvSpPr>
          <p:cNvPr id="6" name="Progresso iii"/>
          <p:cNvSpPr txBox="1"/>
          <p:nvPr/>
        </p:nvSpPr>
        <p:spPr>
          <a:xfrm>
            <a:off x="7397496" y="274320"/>
            <a:ext cx="274320" cy="274320"/>
          </a:xfrm>
          <a:prstGeom prst="ellipse">
            <a:avLst/>
          </a:prstGeom>
          <a:noFill/>
          <a:ln w="9525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iii</a:t>
            </a:r>
            <a:endParaRPr lang="en-US" sz="1000" dirty="0"/>
          </a:p>
        </p:txBody>
      </p:sp>
      <p:sp>
        <p:nvSpPr>
          <p:cNvPr id="7" name="Progresso iv"/>
          <p:cNvSpPr txBox="1"/>
          <p:nvPr/>
        </p:nvSpPr>
        <p:spPr>
          <a:xfrm>
            <a:off x="7735824" y="274320"/>
            <a:ext cx="274320" cy="274320"/>
          </a:xfrm>
          <a:prstGeom prst="ellipse">
            <a:avLst/>
          </a:prstGeom>
          <a:noFill/>
          <a:ln w="9525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iv</a:t>
            </a:r>
            <a:endParaRPr lang="en-US" sz="1000" dirty="0"/>
          </a:p>
        </p:txBody>
      </p:sp>
      <p:sp>
        <p:nvSpPr>
          <p:cNvPr id="8" name="Progresso v"/>
          <p:cNvSpPr txBox="1"/>
          <p:nvPr/>
        </p:nvSpPr>
        <p:spPr>
          <a:xfrm>
            <a:off x="8074152" y="274320"/>
            <a:ext cx="274320" cy="274320"/>
          </a:xfrm>
          <a:prstGeom prst="ellipse">
            <a:avLst/>
          </a:prstGeom>
          <a:noFill/>
          <a:ln w="9525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v</a:t>
            </a:r>
            <a:endParaRPr lang="en-US" sz="1000" dirty="0"/>
          </a:p>
        </p:txBody>
      </p:sp>
      <p:sp>
        <p:nvSpPr>
          <p:cNvPr id="9" name="Progresso vi"/>
          <p:cNvSpPr txBox="1"/>
          <p:nvPr/>
        </p:nvSpPr>
        <p:spPr>
          <a:xfrm>
            <a:off x="8412480" y="274320"/>
            <a:ext cx="274320" cy="274320"/>
          </a:xfrm>
          <a:prstGeom prst="ellipse">
            <a:avLst/>
          </a:prstGeom>
          <a:noFill/>
          <a:ln w="9525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vi</a:t>
            </a:r>
            <a:endParaRPr lang="en-US" sz="1000" dirty="0"/>
          </a:p>
        </p:txBody>
      </p:sp>
      <p:sp>
        <p:nvSpPr>
          <p:cNvPr id="10" name="Linha do tempo"/>
          <p:cNvSpPr/>
          <p:nvPr/>
        </p:nvSpPr>
        <p:spPr>
          <a:xfrm>
            <a:off x="548640" y="1755648"/>
            <a:ext cx="8046720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12801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1969–1970</a:t>
            </a:r>
            <a:endParaRPr lang="en-US" sz="1300" dirty="0"/>
          </a:p>
        </p:txBody>
      </p:sp>
      <p:sp>
        <p:nvSpPr>
          <p:cNvPr id="12" name="Marco 1"/>
          <p:cNvSpPr/>
          <p:nvPr/>
        </p:nvSpPr>
        <p:spPr>
          <a:xfrm>
            <a:off x="457200" y="1673352"/>
            <a:ext cx="164592" cy="164592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1938528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 Ingalls (grupo Litton) vence os contratos de navios de assalto anfíbio (LHA) e de 30 destróieres (DD-963) — e ergue um estaleiro novo.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560320" y="12801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Anos 1970</a:t>
            </a:r>
            <a:endParaRPr lang="en-US" sz="1300" dirty="0"/>
          </a:p>
        </p:txBody>
      </p:sp>
      <p:sp>
        <p:nvSpPr>
          <p:cNvPr id="15" name="Marco 2"/>
          <p:cNvSpPr/>
          <p:nvPr/>
        </p:nvSpPr>
        <p:spPr>
          <a:xfrm>
            <a:off x="2560320" y="1673352"/>
            <a:ext cx="164592" cy="164592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560320" y="1938528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Com os navios já em construção, a Marinha introduz um grande volume de mudanças de projeto.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663440" y="12801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Meados dos anos 1970</a:t>
            </a:r>
            <a:endParaRPr lang="en-US" sz="1300" dirty="0"/>
          </a:p>
        </p:txBody>
      </p:sp>
      <p:sp>
        <p:nvSpPr>
          <p:cNvPr id="18" name="Marco 3"/>
          <p:cNvSpPr/>
          <p:nvPr/>
        </p:nvSpPr>
        <p:spPr>
          <a:xfrm>
            <a:off x="4663440" y="1673352"/>
            <a:ext cx="164592" cy="164592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663440" y="1938528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Atrasos, estouro de orçamento e falhas de qualidade; os prejuízos ameaçam a empresa.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766560" y="12801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1978</a:t>
            </a:r>
            <a:endParaRPr lang="en-US" sz="1300" dirty="0"/>
          </a:p>
        </p:txBody>
      </p:sp>
      <p:sp>
        <p:nvSpPr>
          <p:cNvPr id="21" name="Marco 4"/>
          <p:cNvSpPr/>
          <p:nvPr/>
        </p:nvSpPr>
        <p:spPr>
          <a:xfrm>
            <a:off x="6766560" y="1673352"/>
            <a:ext cx="164592" cy="16459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766560" y="1938528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 reivindicação de ≈ US$ 500 milhões contra a Marinha termina em acordo de US$ 447 milhões.</a:t>
            </a:r>
            <a:endParaRPr lang="en-US" sz="1200" dirty="0"/>
          </a:p>
        </p:txBody>
      </p:sp>
      <p:sp>
        <p:nvSpPr>
          <p:cNvPr id="23" name="Sintoma Atrasos"/>
          <p:cNvSpPr/>
          <p:nvPr/>
        </p:nvSpPr>
        <p:spPr>
          <a:xfrm>
            <a:off x="457200" y="3154680"/>
            <a:ext cx="256032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24" name="Ícone Atrasos"/>
          <p:cNvSpPr/>
          <p:nvPr/>
        </p:nvSpPr>
        <p:spPr>
          <a:xfrm>
            <a:off x="658368" y="3383280"/>
            <a:ext cx="566928" cy="566928"/>
          </a:xfrm>
          <a:prstGeom prst="ellipse">
            <a:avLst/>
          </a:prstGeom>
          <a:solidFill>
            <a:schemeClr val="accent1">
              <a:alpha val="15000"/>
            </a:schemeClr>
          </a:solidFill>
          <a:ln/>
        </p:spPr>
      </p:sp>
      <p:pic>
        <p:nvPicPr>
          <p:cNvPr id="25" name="Image 0" descr="Atras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3511296"/>
            <a:ext cx="310896" cy="310896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1371600" y="34290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Atrasos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658368" y="4050792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Entregas muito além das datas contratuais.</a:t>
            </a:r>
            <a:endParaRPr lang="en-US" sz="1200" dirty="0"/>
          </a:p>
        </p:txBody>
      </p:sp>
      <p:sp>
        <p:nvSpPr>
          <p:cNvPr id="28" name="Sintoma Sobrecustos"/>
          <p:cNvSpPr/>
          <p:nvPr/>
        </p:nvSpPr>
        <p:spPr>
          <a:xfrm>
            <a:off x="3291840" y="3154680"/>
            <a:ext cx="256032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29" name="Ícone Sobrecustos"/>
          <p:cNvSpPr/>
          <p:nvPr/>
        </p:nvSpPr>
        <p:spPr>
          <a:xfrm>
            <a:off x="3493008" y="3383280"/>
            <a:ext cx="566928" cy="566928"/>
          </a:xfrm>
          <a:prstGeom prst="ellipse">
            <a:avLst/>
          </a:prstGeom>
          <a:solidFill>
            <a:schemeClr val="accent1">
              <a:alpha val="15000"/>
            </a:schemeClr>
          </a:solidFill>
          <a:ln/>
        </p:spPr>
      </p:sp>
      <p:pic>
        <p:nvPicPr>
          <p:cNvPr id="30" name="Image 1" descr="Sobrecusto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1024" y="3511296"/>
            <a:ext cx="310896" cy="310896"/>
          </a:xfrm>
          <a:prstGeom prst="rect">
            <a:avLst/>
          </a:prstGeom>
        </p:spPr>
      </p:pic>
      <p:sp>
        <p:nvSpPr>
          <p:cNvPr id="31" name="Text 27"/>
          <p:cNvSpPr txBox="1"/>
          <p:nvPr/>
        </p:nvSpPr>
        <p:spPr>
          <a:xfrm>
            <a:off x="4206240" y="34290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Sobrecustos</a:t>
            </a:r>
            <a:endParaRPr lang="en-US" sz="1800" dirty="0"/>
          </a:p>
        </p:txBody>
      </p:sp>
      <p:sp>
        <p:nvSpPr>
          <p:cNvPr id="32" name="Text 28"/>
          <p:cNvSpPr txBox="1"/>
          <p:nvPr/>
        </p:nvSpPr>
        <p:spPr>
          <a:xfrm>
            <a:off x="3493008" y="4050792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Centenas de milhões de dólares acima do orçamento.</a:t>
            </a:r>
            <a:endParaRPr lang="en-US" sz="1200" dirty="0"/>
          </a:p>
        </p:txBody>
      </p:sp>
      <p:sp>
        <p:nvSpPr>
          <p:cNvPr id="33" name="Sintoma Qualidade"/>
          <p:cNvSpPr/>
          <p:nvPr/>
        </p:nvSpPr>
        <p:spPr>
          <a:xfrm>
            <a:off x="6126480" y="3154680"/>
            <a:ext cx="256032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34" name="Ícone Qualidade"/>
          <p:cNvSpPr/>
          <p:nvPr/>
        </p:nvSpPr>
        <p:spPr>
          <a:xfrm>
            <a:off x="6327648" y="3383280"/>
            <a:ext cx="566928" cy="566928"/>
          </a:xfrm>
          <a:prstGeom prst="ellipse">
            <a:avLst/>
          </a:prstGeom>
          <a:solidFill>
            <a:schemeClr val="accent1">
              <a:alpha val="15000"/>
            </a:schemeClr>
          </a:solidFill>
          <a:ln/>
        </p:spPr>
      </p:sp>
      <p:pic>
        <p:nvPicPr>
          <p:cNvPr id="35" name="Image 2" descr="Qualidad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664" y="3511296"/>
            <a:ext cx="310896" cy="310896"/>
          </a:xfrm>
          <a:prstGeom prst="rect">
            <a:avLst/>
          </a:prstGeom>
        </p:spPr>
      </p:pic>
      <p:sp>
        <p:nvSpPr>
          <p:cNvPr id="36" name="Text 31"/>
          <p:cNvSpPr txBox="1"/>
          <p:nvPr/>
        </p:nvSpPr>
        <p:spPr>
          <a:xfrm>
            <a:off x="7040880" y="34290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Qualidade</a:t>
            </a:r>
            <a:endParaRPr lang="en-US" sz="1800" dirty="0"/>
          </a:p>
        </p:txBody>
      </p:sp>
      <p:sp>
        <p:nvSpPr>
          <p:cNvPr id="37" name="Text 32"/>
          <p:cNvSpPr txBox="1"/>
          <p:nvPr/>
        </p:nvSpPr>
        <p:spPr>
          <a:xfrm>
            <a:off x="6327648" y="4050792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Erros em série, retrabalho e trabalho refeito.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(i)  O PROBLEMA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O custo que importa está abaixo da linha d’água</a:t>
            </a:r>
            <a:endParaRPr lang="en-US" sz="2600" dirty="0"/>
          </a:p>
        </p:txBody>
      </p:sp>
      <p:sp>
        <p:nvSpPr>
          <p:cNvPr id="4" name="Progresso i"/>
          <p:cNvSpPr txBox="1"/>
          <p:nvPr/>
        </p:nvSpPr>
        <p:spPr>
          <a:xfrm>
            <a:off x="6720840" y="274320"/>
            <a:ext cx="274320" cy="27432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i</a:t>
            </a:r>
            <a:endParaRPr lang="en-US" sz="1000" dirty="0"/>
          </a:p>
        </p:txBody>
      </p:sp>
      <p:sp>
        <p:nvSpPr>
          <p:cNvPr id="5" name="Progresso ii"/>
          <p:cNvSpPr txBox="1"/>
          <p:nvPr/>
        </p:nvSpPr>
        <p:spPr>
          <a:xfrm>
            <a:off x="7059168" y="274320"/>
            <a:ext cx="274320" cy="274320"/>
          </a:xfrm>
          <a:prstGeom prst="ellipse">
            <a:avLst/>
          </a:prstGeom>
          <a:noFill/>
          <a:ln w="9525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ii</a:t>
            </a:r>
            <a:endParaRPr lang="en-US" sz="1000" dirty="0"/>
          </a:p>
        </p:txBody>
      </p:sp>
      <p:sp>
        <p:nvSpPr>
          <p:cNvPr id="6" name="Progresso iii"/>
          <p:cNvSpPr txBox="1"/>
          <p:nvPr/>
        </p:nvSpPr>
        <p:spPr>
          <a:xfrm>
            <a:off x="7397496" y="274320"/>
            <a:ext cx="274320" cy="274320"/>
          </a:xfrm>
          <a:prstGeom prst="ellipse">
            <a:avLst/>
          </a:prstGeom>
          <a:noFill/>
          <a:ln w="9525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iii</a:t>
            </a:r>
            <a:endParaRPr lang="en-US" sz="1000" dirty="0"/>
          </a:p>
        </p:txBody>
      </p:sp>
      <p:sp>
        <p:nvSpPr>
          <p:cNvPr id="7" name="Progresso iv"/>
          <p:cNvSpPr txBox="1"/>
          <p:nvPr/>
        </p:nvSpPr>
        <p:spPr>
          <a:xfrm>
            <a:off x="7735824" y="274320"/>
            <a:ext cx="274320" cy="274320"/>
          </a:xfrm>
          <a:prstGeom prst="ellipse">
            <a:avLst/>
          </a:prstGeom>
          <a:noFill/>
          <a:ln w="9525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iv</a:t>
            </a:r>
            <a:endParaRPr lang="en-US" sz="1000" dirty="0"/>
          </a:p>
        </p:txBody>
      </p:sp>
      <p:sp>
        <p:nvSpPr>
          <p:cNvPr id="8" name="Progresso v"/>
          <p:cNvSpPr txBox="1"/>
          <p:nvPr/>
        </p:nvSpPr>
        <p:spPr>
          <a:xfrm>
            <a:off x="8074152" y="274320"/>
            <a:ext cx="274320" cy="274320"/>
          </a:xfrm>
          <a:prstGeom prst="ellipse">
            <a:avLst/>
          </a:prstGeom>
          <a:noFill/>
          <a:ln w="9525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v</a:t>
            </a:r>
            <a:endParaRPr lang="en-US" sz="1000" dirty="0"/>
          </a:p>
        </p:txBody>
      </p:sp>
      <p:sp>
        <p:nvSpPr>
          <p:cNvPr id="9" name="Progresso vi"/>
          <p:cNvSpPr txBox="1"/>
          <p:nvPr/>
        </p:nvSpPr>
        <p:spPr>
          <a:xfrm>
            <a:off x="8412480" y="274320"/>
            <a:ext cx="274320" cy="274320"/>
          </a:xfrm>
          <a:prstGeom prst="ellipse">
            <a:avLst/>
          </a:prstGeom>
          <a:noFill/>
          <a:ln w="9525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vi</a:t>
            </a:r>
            <a:endParaRPr lang="en-US" sz="1000" dirty="0"/>
          </a:p>
        </p:txBody>
      </p:sp>
      <p:sp>
        <p:nvSpPr>
          <p:cNvPr id="10" name="Água"/>
          <p:cNvSpPr/>
          <p:nvPr/>
        </p:nvSpPr>
        <p:spPr>
          <a:xfrm>
            <a:off x="457200" y="2103120"/>
            <a:ext cx="3749040" cy="2514600"/>
          </a:xfrm>
          <a:prstGeom prst="rect">
            <a:avLst/>
          </a:prstGeom>
          <a:solidFill>
            <a:schemeClr val="accent2">
              <a:alpha val="20000"/>
            </a:schemeClr>
          </a:solidFill>
          <a:ln/>
        </p:spPr>
      </p:sp>
      <p:sp>
        <p:nvSpPr>
          <p:cNvPr id="11" name="Iceberg"/>
          <p:cNvSpPr/>
          <p:nvPr/>
        </p:nvSpPr>
        <p:spPr>
          <a:xfrm>
            <a:off x="731520" y="1298448"/>
            <a:ext cx="3200400" cy="3227832"/>
          </a:xfrm>
          <a:custGeom>
            <a:avLst/>
            <a:gdLst/>
            <a:ahLst/>
            <a:cxnLst/>
            <a:rect l="l" t="t" r="r" b="b"/>
            <a:pathLst>
              <a:path w="3200400" h="3227832">
                <a:moveTo>
                  <a:pt x="1371600" y="0"/>
                </a:moveTo>
                <a:lnTo>
                  <a:pt x="1783080" y="347472"/>
                </a:lnTo>
                <a:lnTo>
                  <a:pt x="2057400" y="804672"/>
                </a:lnTo>
                <a:lnTo>
                  <a:pt x="2697480" y="1216152"/>
                </a:lnTo>
                <a:lnTo>
                  <a:pt x="3200400" y="1993392"/>
                </a:lnTo>
                <a:lnTo>
                  <a:pt x="2880360" y="2862072"/>
                </a:lnTo>
                <a:lnTo>
                  <a:pt x="1783080" y="3227832"/>
                </a:lnTo>
                <a:lnTo>
                  <a:pt x="502920" y="2999232"/>
                </a:lnTo>
                <a:lnTo>
                  <a:pt x="0" y="2084832"/>
                </a:lnTo>
                <a:lnTo>
                  <a:pt x="411480" y="1216152"/>
                </a:lnTo>
                <a:lnTo>
                  <a:pt x="822960" y="804672"/>
                </a:lnTo>
                <a:lnTo>
                  <a:pt x="1051560" y="301752"/>
                </a:lnTo>
                <a:close/>
              </a:path>
            </a:pathLst>
          </a:custGeom>
          <a:solidFill>
            <a:schemeClr val="bg1"/>
          </a:solidFill>
          <a:ln w="15875">
            <a:solidFill>
              <a:schemeClr val="tx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743200" y="132588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Custo direto das mudanças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291840" y="1865376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000" i="1" dirty="0">
                <a:solidFill>
                  <a:schemeClr val="accent2"/>
                </a:solidFill>
              </a:rPr>
              <a:t>linha d’água</a:t>
            </a:r>
            <a:endParaRPr lang="en-US" sz="1000" dirty="0"/>
          </a:p>
        </p:txBody>
      </p:sp>
      <p:sp>
        <p:nvSpPr>
          <p:cNvPr id="14" name="Custos ocultos"/>
          <p:cNvSpPr txBox="1"/>
          <p:nvPr/>
        </p:nvSpPr>
        <p:spPr>
          <a:xfrm>
            <a:off x="1143000" y="2697480"/>
            <a:ext cx="25603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</a:rPr>
              <a:t>Custos de atraso e ruptura (D&amp;D)</a:t>
            </a:r>
            <a:endParaRPr lang="en-US" sz="1200" dirty="0"/>
          </a:p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retrabalho</a:t>
            </a:r>
            <a:endParaRPr lang="en-US" sz="1200" dirty="0"/>
          </a:p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trabalho fora de sequência</a:t>
            </a:r>
            <a:endParaRPr lang="en-US" sz="1200" dirty="0"/>
          </a:p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contratação e treinamento de novatos</a:t>
            </a:r>
            <a:endParaRPr lang="en-US" sz="1200" dirty="0"/>
          </a:p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horas extras, fadiga e queda de moral</a:t>
            </a:r>
            <a:endParaRPr lang="en-US" sz="1200" dirty="0"/>
          </a:p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perda de produtividade e de qualidade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13258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A PERGUNTA CENTRAL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0" y="1645920"/>
            <a:ext cx="4114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Quanto do sobrecusto foi causado pelas mudanças da Marinha — e quanto pela própria gestão do estaleiro?</a:t>
            </a:r>
            <a:endParaRPr lang="en-US" sz="2000" dirty="0"/>
          </a:p>
        </p:txBody>
      </p:sp>
      <p:sp>
        <p:nvSpPr>
          <p:cNvPr id="17" name="Marcador Custo direto"/>
          <p:cNvSpPr/>
          <p:nvPr/>
        </p:nvSpPr>
        <p:spPr>
          <a:xfrm>
            <a:off x="4572000" y="3072384"/>
            <a:ext cx="146304" cy="146304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846320" y="301752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Custo direto: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fácil de orçar — refazer o desenho e a peça que mudaram.</a:t>
            </a:r>
            <a:endParaRPr lang="en-US" sz="1400" dirty="0"/>
          </a:p>
        </p:txBody>
      </p:sp>
      <p:sp>
        <p:nvSpPr>
          <p:cNvPr id="19" name="Marcador Atraso e ruptura"/>
          <p:cNvSpPr/>
          <p:nvPr/>
        </p:nvSpPr>
        <p:spPr>
          <a:xfrm>
            <a:off x="4572000" y="3849624"/>
            <a:ext cx="146304" cy="14630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846320" y="37947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Atraso e ruptura: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efeito-cascata sobre todo o programa — difícil de provar com métodos tradicionais e, por isso, contestado.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(ii)  A HIPÓTESE DINÂMICA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O sobrecusto nasce da estrutura do projeto</a:t>
            </a:r>
            <a:endParaRPr lang="en-US" sz="2600" dirty="0"/>
          </a:p>
        </p:txBody>
      </p:sp>
      <p:sp>
        <p:nvSpPr>
          <p:cNvPr id="4" name="Progresso i"/>
          <p:cNvSpPr txBox="1"/>
          <p:nvPr/>
        </p:nvSpPr>
        <p:spPr>
          <a:xfrm>
            <a:off x="6720840" y="274320"/>
            <a:ext cx="274320" cy="274320"/>
          </a:xfrm>
          <a:prstGeom prst="ellipse">
            <a:avLst/>
          </a:prstGeom>
          <a:noFill/>
          <a:ln w="9525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i</a:t>
            </a:r>
            <a:endParaRPr lang="en-US" sz="1000" dirty="0"/>
          </a:p>
        </p:txBody>
      </p:sp>
      <p:sp>
        <p:nvSpPr>
          <p:cNvPr id="5" name="Progresso ii"/>
          <p:cNvSpPr txBox="1"/>
          <p:nvPr/>
        </p:nvSpPr>
        <p:spPr>
          <a:xfrm>
            <a:off x="7059168" y="274320"/>
            <a:ext cx="274320" cy="27432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ii</a:t>
            </a:r>
            <a:endParaRPr lang="en-US" sz="1000" dirty="0"/>
          </a:p>
        </p:txBody>
      </p:sp>
      <p:sp>
        <p:nvSpPr>
          <p:cNvPr id="6" name="Progresso iii"/>
          <p:cNvSpPr txBox="1"/>
          <p:nvPr/>
        </p:nvSpPr>
        <p:spPr>
          <a:xfrm>
            <a:off x="7397496" y="274320"/>
            <a:ext cx="274320" cy="274320"/>
          </a:xfrm>
          <a:prstGeom prst="ellipse">
            <a:avLst/>
          </a:prstGeom>
          <a:noFill/>
          <a:ln w="9525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iii</a:t>
            </a:r>
            <a:endParaRPr lang="en-US" sz="1000" dirty="0"/>
          </a:p>
        </p:txBody>
      </p:sp>
      <p:sp>
        <p:nvSpPr>
          <p:cNvPr id="7" name="Progresso iv"/>
          <p:cNvSpPr txBox="1"/>
          <p:nvPr/>
        </p:nvSpPr>
        <p:spPr>
          <a:xfrm>
            <a:off x="7735824" y="274320"/>
            <a:ext cx="274320" cy="274320"/>
          </a:xfrm>
          <a:prstGeom prst="ellipse">
            <a:avLst/>
          </a:prstGeom>
          <a:noFill/>
          <a:ln w="9525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iv</a:t>
            </a:r>
            <a:endParaRPr lang="en-US" sz="1000" dirty="0"/>
          </a:p>
        </p:txBody>
      </p:sp>
      <p:sp>
        <p:nvSpPr>
          <p:cNvPr id="8" name="Progresso v"/>
          <p:cNvSpPr txBox="1"/>
          <p:nvPr/>
        </p:nvSpPr>
        <p:spPr>
          <a:xfrm>
            <a:off x="8074152" y="274320"/>
            <a:ext cx="274320" cy="274320"/>
          </a:xfrm>
          <a:prstGeom prst="ellipse">
            <a:avLst/>
          </a:prstGeom>
          <a:noFill/>
          <a:ln w="9525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v</a:t>
            </a:r>
            <a:endParaRPr lang="en-US" sz="1000" dirty="0"/>
          </a:p>
        </p:txBody>
      </p:sp>
      <p:sp>
        <p:nvSpPr>
          <p:cNvPr id="9" name="Progresso vi"/>
          <p:cNvSpPr txBox="1"/>
          <p:nvPr/>
        </p:nvSpPr>
        <p:spPr>
          <a:xfrm>
            <a:off x="8412480" y="274320"/>
            <a:ext cx="274320" cy="274320"/>
          </a:xfrm>
          <a:prstGeom prst="ellipse">
            <a:avLst/>
          </a:prstGeom>
          <a:noFill/>
          <a:ln w="9525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vi</a:t>
            </a:r>
            <a:endParaRPr lang="en-US" sz="1000" dirty="0"/>
          </a:p>
        </p:txBody>
      </p:sp>
      <p:sp>
        <p:nvSpPr>
          <p:cNvPr id="10" name="Hipótese"/>
          <p:cNvSpPr/>
          <p:nvPr/>
        </p:nvSpPr>
        <p:spPr>
          <a:xfrm>
            <a:off x="457200" y="1298448"/>
            <a:ext cx="822960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pic>
        <p:nvPicPr>
          <p:cNvPr id="11" name="Image 0" descr="Citaçã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81328"/>
            <a:ext cx="384048" cy="384048"/>
          </a:xfrm>
          <a:prstGeom prst="rect">
            <a:avLst/>
          </a:prstGeom>
        </p:spPr>
      </p:pic>
      <p:sp>
        <p:nvSpPr>
          <p:cNvPr id="12" name="Texto da hipótese"/>
          <p:cNvSpPr txBox="1"/>
          <p:nvPr/>
        </p:nvSpPr>
        <p:spPr>
          <a:xfrm>
            <a:off x="1280160" y="1417320"/>
            <a:ext cx="7178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tx2"/>
                </a:solidFill>
              </a:rPr>
              <a:t>As mudanças da Marinha disparam o ciclo de retrabalho. As respostas gerenciais “óbvias” — </a:t>
            </a:r>
            <a:pPr indent="0" marL="0">
              <a:buNone/>
            </a:pPr>
            <a:r>
              <a:rPr lang="en-US" sz="1600" b="1" i="1" dirty="0">
                <a:solidFill>
                  <a:schemeClr val="tx2"/>
                </a:solidFill>
              </a:rPr>
              <a:t>contratar e fazer horas extras</a:t>
            </a:r>
            <a:pPr indent="0" marL="0">
              <a:buNone/>
            </a:pPr>
            <a:r>
              <a:rPr lang="en-US" sz="1600" i="1" dirty="0">
                <a:solidFill>
                  <a:schemeClr val="tx2"/>
                </a:solidFill>
              </a:rPr>
              <a:t> — reduzem a produtividade e a qualidade e geram ainda mais retrabalho e atraso: laços de </a:t>
            </a:r>
            <a:pPr indent="0" marL="0">
              <a:buNone/>
            </a:pPr>
            <a:r>
              <a:rPr lang="en-US" sz="1600" b="1" i="1" dirty="0">
                <a:solidFill>
                  <a:schemeClr val="accent1"/>
                </a:solidFill>
              </a:rPr>
              <a:t>reforço</a:t>
            </a:r>
            <a:pPr indent="0" marL="0">
              <a:buNone/>
            </a:pPr>
            <a:r>
              <a:rPr lang="en-US" sz="1600" i="1" dirty="0">
                <a:solidFill>
                  <a:schemeClr val="tx2"/>
                </a:solidFill>
              </a:rPr>
              <a:t> dominam os laços de controle.</a:t>
            </a:r>
            <a:endParaRPr lang="en-US" sz="1600" dirty="0"/>
          </a:p>
        </p:txBody>
      </p:sp>
      <p:sp>
        <p:nvSpPr>
          <p:cNvPr id="13" name="Elo 1"/>
          <p:cNvSpPr txBox="1"/>
          <p:nvPr/>
        </p:nvSpPr>
        <p:spPr>
          <a:xfrm>
            <a:off x="457200" y="2834640"/>
            <a:ext cx="1389888" cy="749808"/>
          </a:xfrm>
          <a:prstGeom prst="roundRect">
            <a:avLst>
              <a:gd name="adj" fmla="val 9756"/>
            </a:avLst>
          </a:prstGeom>
          <a:solidFill>
            <a:schemeClr val="accent1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Mudanças da Marinha</a:t>
            </a:r>
            <a:endParaRPr lang="en-US" sz="1300" dirty="0"/>
          </a:p>
        </p:txBody>
      </p:sp>
      <p:sp>
        <p:nvSpPr>
          <p:cNvPr id="14" name="Seta 1"/>
          <p:cNvSpPr/>
          <p:nvPr/>
        </p:nvSpPr>
        <p:spPr>
          <a:xfrm>
            <a:off x="1883664" y="3209544"/>
            <a:ext cx="246888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5" name="Elo 2"/>
          <p:cNvSpPr txBox="1"/>
          <p:nvPr/>
        </p:nvSpPr>
        <p:spPr>
          <a:xfrm>
            <a:off x="2167128" y="2834640"/>
            <a:ext cx="1389888" cy="749808"/>
          </a:xfrm>
          <a:prstGeom prst="roundRect">
            <a:avLst>
              <a:gd name="adj" fmla="val 9756"/>
            </a:avLst>
          </a:prstGeom>
          <a:solidFill>
            <a:schemeClr val="tx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Retrabalho e atraso</a:t>
            </a:r>
            <a:endParaRPr lang="en-US" sz="1300" dirty="0"/>
          </a:p>
        </p:txBody>
      </p:sp>
      <p:sp>
        <p:nvSpPr>
          <p:cNvPr id="16" name="Seta 2"/>
          <p:cNvSpPr/>
          <p:nvPr/>
        </p:nvSpPr>
        <p:spPr>
          <a:xfrm>
            <a:off x="3593592" y="3209544"/>
            <a:ext cx="246888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7" name="Elo 3"/>
          <p:cNvSpPr txBox="1"/>
          <p:nvPr/>
        </p:nvSpPr>
        <p:spPr>
          <a:xfrm>
            <a:off x="3877056" y="2834640"/>
            <a:ext cx="1389888" cy="749808"/>
          </a:xfrm>
          <a:prstGeom prst="roundRect">
            <a:avLst>
              <a:gd name="adj" fmla="val 9756"/>
            </a:avLst>
          </a:prstGeom>
          <a:solidFill>
            <a:schemeClr val="tx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Pressão de cronograma</a:t>
            </a:r>
            <a:endParaRPr lang="en-US" sz="1300" dirty="0"/>
          </a:p>
        </p:txBody>
      </p:sp>
      <p:sp>
        <p:nvSpPr>
          <p:cNvPr id="18" name="Seta 3"/>
          <p:cNvSpPr/>
          <p:nvPr/>
        </p:nvSpPr>
        <p:spPr>
          <a:xfrm>
            <a:off x="5303520" y="3209544"/>
            <a:ext cx="246888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9" name="Elo 4"/>
          <p:cNvSpPr txBox="1"/>
          <p:nvPr/>
        </p:nvSpPr>
        <p:spPr>
          <a:xfrm>
            <a:off x="5586984" y="2834640"/>
            <a:ext cx="1389888" cy="749808"/>
          </a:xfrm>
          <a:prstGeom prst="roundRect">
            <a:avLst>
              <a:gd name="adj" fmla="val 9756"/>
            </a:avLst>
          </a:prstGeom>
          <a:solidFill>
            <a:schemeClr val="tx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Contratação e horas extras</a:t>
            </a:r>
            <a:endParaRPr lang="en-US" sz="1300" dirty="0"/>
          </a:p>
        </p:txBody>
      </p:sp>
      <p:sp>
        <p:nvSpPr>
          <p:cNvPr id="20" name="Seta 4"/>
          <p:cNvSpPr/>
          <p:nvPr/>
        </p:nvSpPr>
        <p:spPr>
          <a:xfrm>
            <a:off x="7013448" y="3209544"/>
            <a:ext cx="246888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1" name="Elo 5"/>
          <p:cNvSpPr txBox="1"/>
          <p:nvPr/>
        </p:nvSpPr>
        <p:spPr>
          <a:xfrm>
            <a:off x="7296912" y="2834640"/>
            <a:ext cx="1389888" cy="749808"/>
          </a:xfrm>
          <a:prstGeom prst="roundRect">
            <a:avLst>
              <a:gd name="adj" fmla="val 9756"/>
            </a:avLst>
          </a:prstGeom>
          <a:solidFill>
            <a:schemeClr val="tx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Queda de produtividade e qualidade</a:t>
            </a:r>
            <a:endParaRPr lang="en-US" sz="1300" dirty="0"/>
          </a:p>
        </p:txBody>
      </p:sp>
      <p:sp>
        <p:nvSpPr>
          <p:cNvPr id="22" name="Laço de reforço"/>
          <p:cNvSpPr/>
          <p:nvPr/>
        </p:nvSpPr>
        <p:spPr>
          <a:xfrm>
            <a:off x="2843784" y="3611880"/>
            <a:ext cx="5166360" cy="905256"/>
          </a:xfrm>
          <a:custGeom>
            <a:avLst/>
            <a:gdLst/>
            <a:ahLst/>
            <a:cxnLst/>
            <a:rect l="l" t="t" r="r" b="b"/>
            <a:pathLst>
              <a:path w="5166360" h="905256">
                <a:moveTo>
                  <a:pt x="5148072" y="18288"/>
                </a:moveTo>
                <a:cubicBezTo>
                  <a:pt x="5148072" y="886968"/>
                  <a:pt x="18288" y="886968"/>
                  <a:pt x="18288" y="36576"/>
                </a:cubicBezTo>
              </a:path>
            </a:pathLst>
          </a:cu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3" name="Laço R"/>
          <p:cNvSpPr/>
          <p:nvPr/>
        </p:nvSpPr>
        <p:spPr>
          <a:xfrm>
            <a:off x="5170575" y="3706432"/>
            <a:ext cx="512777" cy="435800"/>
          </a:xfrm>
          <a:custGeom>
            <a:avLst/>
            <a:gdLst/>
            <a:ahLst/>
            <a:cxnLst/>
            <a:rect l="l" t="t" r="r" b="b"/>
            <a:pathLst>
              <a:path w="512777" h="435800">
                <a:moveTo>
                  <a:pt x="382219" y="18288"/>
                </a:moveTo>
                <a:cubicBezTo>
                  <a:pt x="460766" y="73243"/>
                  <a:pt x="494508" y="172730"/>
                  <a:pt x="465704" y="264079"/>
                </a:cubicBezTo>
                <a:cubicBezTo>
                  <a:pt x="436900" y="355427"/>
                  <a:pt x="352135" y="417515"/>
                  <a:pt x="256398" y="417515"/>
                </a:cubicBezTo>
                <a:cubicBezTo>
                  <a:pt x="160569" y="417515"/>
                  <a:pt x="75895" y="355427"/>
                  <a:pt x="47092" y="264079"/>
                </a:cubicBezTo>
                <a:cubicBezTo>
                  <a:pt x="18288" y="172730"/>
                  <a:pt x="52029" y="73243"/>
                  <a:pt x="130485" y="18288"/>
                </a:cubicBezTo>
              </a:path>
            </a:pathLst>
          </a:cu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4" name="Rótulo laço R"/>
          <p:cNvSpPr txBox="1"/>
          <p:nvPr/>
        </p:nvSpPr>
        <p:spPr>
          <a:xfrm>
            <a:off x="5207508" y="3785616"/>
            <a:ext cx="438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R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2862072" y="4352544"/>
            <a:ext cx="5129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1"/>
                </a:solidFill>
              </a:rPr>
              <a:t>ciclo vicioso: mais retrabalho → mais pressão → mais retrabalho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457200" y="2560320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i="1" dirty="0">
                <a:solidFill>
                  <a:schemeClr val="accent1"/>
                </a:solidFill>
              </a:rPr>
              <a:t>gatilho externo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5586984" y="2560320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i="1" dirty="0">
                <a:solidFill>
                  <a:schemeClr val="accent2"/>
                </a:solidFill>
              </a:rPr>
              <a:t>resposta pretendida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(iii)  O MODELO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O coração do modelo: o ciclo de retrabalho</a:t>
            </a:r>
            <a:endParaRPr lang="en-US" sz="2600" dirty="0"/>
          </a:p>
        </p:txBody>
      </p:sp>
      <p:sp>
        <p:nvSpPr>
          <p:cNvPr id="4" name="Progresso i"/>
          <p:cNvSpPr txBox="1"/>
          <p:nvPr/>
        </p:nvSpPr>
        <p:spPr>
          <a:xfrm>
            <a:off x="6720840" y="274320"/>
            <a:ext cx="274320" cy="274320"/>
          </a:xfrm>
          <a:prstGeom prst="ellipse">
            <a:avLst/>
          </a:prstGeom>
          <a:noFill/>
          <a:ln w="9525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i</a:t>
            </a:r>
            <a:endParaRPr lang="en-US" sz="1000" dirty="0"/>
          </a:p>
        </p:txBody>
      </p:sp>
      <p:sp>
        <p:nvSpPr>
          <p:cNvPr id="5" name="Progresso ii"/>
          <p:cNvSpPr txBox="1"/>
          <p:nvPr/>
        </p:nvSpPr>
        <p:spPr>
          <a:xfrm>
            <a:off x="7059168" y="274320"/>
            <a:ext cx="274320" cy="274320"/>
          </a:xfrm>
          <a:prstGeom prst="ellipse">
            <a:avLst/>
          </a:prstGeom>
          <a:noFill/>
          <a:ln w="9525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ii</a:t>
            </a:r>
            <a:endParaRPr lang="en-US" sz="1000" dirty="0"/>
          </a:p>
        </p:txBody>
      </p:sp>
      <p:sp>
        <p:nvSpPr>
          <p:cNvPr id="6" name="Progresso iii"/>
          <p:cNvSpPr txBox="1"/>
          <p:nvPr/>
        </p:nvSpPr>
        <p:spPr>
          <a:xfrm>
            <a:off x="7397496" y="274320"/>
            <a:ext cx="274320" cy="27432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iii</a:t>
            </a:r>
            <a:endParaRPr lang="en-US" sz="1000" dirty="0"/>
          </a:p>
        </p:txBody>
      </p:sp>
      <p:sp>
        <p:nvSpPr>
          <p:cNvPr id="7" name="Progresso iv"/>
          <p:cNvSpPr txBox="1"/>
          <p:nvPr/>
        </p:nvSpPr>
        <p:spPr>
          <a:xfrm>
            <a:off x="7735824" y="274320"/>
            <a:ext cx="274320" cy="274320"/>
          </a:xfrm>
          <a:prstGeom prst="ellipse">
            <a:avLst/>
          </a:prstGeom>
          <a:noFill/>
          <a:ln w="9525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iv</a:t>
            </a:r>
            <a:endParaRPr lang="en-US" sz="1000" dirty="0"/>
          </a:p>
        </p:txBody>
      </p:sp>
      <p:sp>
        <p:nvSpPr>
          <p:cNvPr id="8" name="Progresso v"/>
          <p:cNvSpPr txBox="1"/>
          <p:nvPr/>
        </p:nvSpPr>
        <p:spPr>
          <a:xfrm>
            <a:off x="8074152" y="274320"/>
            <a:ext cx="274320" cy="274320"/>
          </a:xfrm>
          <a:prstGeom prst="ellipse">
            <a:avLst/>
          </a:prstGeom>
          <a:noFill/>
          <a:ln w="9525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v</a:t>
            </a:r>
            <a:endParaRPr lang="en-US" sz="1000" dirty="0"/>
          </a:p>
        </p:txBody>
      </p:sp>
      <p:sp>
        <p:nvSpPr>
          <p:cNvPr id="9" name="Progresso vi"/>
          <p:cNvSpPr txBox="1"/>
          <p:nvPr/>
        </p:nvSpPr>
        <p:spPr>
          <a:xfrm>
            <a:off x="8412480" y="274320"/>
            <a:ext cx="274320" cy="274320"/>
          </a:xfrm>
          <a:prstGeom prst="ellipse">
            <a:avLst/>
          </a:prstGeom>
          <a:noFill/>
          <a:ln w="9525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vi</a:t>
            </a:r>
            <a:endParaRPr lang="en-US" sz="1000" dirty="0"/>
          </a:p>
        </p:txBody>
      </p:sp>
      <p:sp>
        <p:nvSpPr>
          <p:cNvPr id="10" name="Fluxo execução"/>
          <p:cNvSpPr/>
          <p:nvPr/>
        </p:nvSpPr>
        <p:spPr>
          <a:xfrm>
            <a:off x="1764792" y="1924812"/>
            <a:ext cx="2368296" cy="45720"/>
          </a:xfrm>
          <a:custGeom>
            <a:avLst/>
            <a:gdLst/>
            <a:ahLst/>
            <a:cxnLst/>
            <a:rect l="l" t="t" r="r" b="b"/>
            <a:pathLst>
              <a:path w="2368296" h="45720">
                <a:moveTo>
                  <a:pt x="18288" y="18288"/>
                </a:moveTo>
                <a:lnTo>
                  <a:pt x="2350008" y="18288"/>
                </a:lnTo>
              </a:path>
            </a:pathLst>
          </a:custGeom>
          <a:noFill/>
          <a:ln w="635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1" name="Fluxo erros"/>
          <p:cNvSpPr/>
          <p:nvPr/>
        </p:nvSpPr>
        <p:spPr>
          <a:xfrm>
            <a:off x="3685032" y="1965960"/>
            <a:ext cx="45720" cy="1033272"/>
          </a:xfrm>
          <a:custGeom>
            <a:avLst/>
            <a:gdLst/>
            <a:ahLst/>
            <a:cxnLst/>
            <a:rect l="l" t="t" r="r" b="b"/>
            <a:pathLst>
              <a:path w="45720" h="1033272">
                <a:moveTo>
                  <a:pt x="18288" y="18288"/>
                </a:moveTo>
                <a:lnTo>
                  <a:pt x="18288" y="1014984"/>
                </a:lnTo>
              </a:path>
            </a:pathLst>
          </a:custGeom>
          <a:noFill/>
          <a:ln w="635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2" name="Fluxo descoberta"/>
          <p:cNvSpPr/>
          <p:nvPr/>
        </p:nvSpPr>
        <p:spPr>
          <a:xfrm>
            <a:off x="1993392" y="3342132"/>
            <a:ext cx="1362456" cy="45720"/>
          </a:xfrm>
          <a:custGeom>
            <a:avLst/>
            <a:gdLst/>
            <a:ahLst/>
            <a:cxnLst/>
            <a:rect l="l" t="t" r="r" b="b"/>
            <a:pathLst>
              <a:path w="1362456" h="45720">
                <a:moveTo>
                  <a:pt x="1344168" y="18288"/>
                </a:moveTo>
                <a:lnTo>
                  <a:pt x="18288" y="18288"/>
                </a:lnTo>
              </a:path>
            </a:pathLst>
          </a:custGeom>
          <a:noFill/>
          <a:ln w="635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3" name="Fluxo retorno"/>
          <p:cNvSpPr/>
          <p:nvPr/>
        </p:nvSpPr>
        <p:spPr>
          <a:xfrm>
            <a:off x="1810512" y="1993392"/>
            <a:ext cx="45720" cy="1005840"/>
          </a:xfrm>
          <a:custGeom>
            <a:avLst/>
            <a:gdLst/>
            <a:ahLst/>
            <a:cxnLst/>
            <a:rect l="l" t="t" r="r" b="b"/>
            <a:pathLst>
              <a:path w="45720" h="1005840">
                <a:moveTo>
                  <a:pt x="18288" y="987552"/>
                </a:moveTo>
                <a:lnTo>
                  <a:pt x="18288" y="18288"/>
                </a:lnTo>
              </a:path>
            </a:pathLst>
          </a:custGeom>
          <a:noFill/>
          <a:ln w="635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4" name="Fluxo obsolescência"/>
          <p:cNvSpPr/>
          <p:nvPr/>
        </p:nvSpPr>
        <p:spPr>
          <a:xfrm>
            <a:off x="987552" y="2304288"/>
            <a:ext cx="4151376" cy="1828800"/>
          </a:xfrm>
          <a:custGeom>
            <a:avLst/>
            <a:gdLst/>
            <a:ahLst/>
            <a:cxnLst/>
            <a:rect l="l" t="t" r="r" b="b"/>
            <a:pathLst>
              <a:path w="4151376" h="1828800">
                <a:moveTo>
                  <a:pt x="4133088" y="18288"/>
                </a:moveTo>
                <a:lnTo>
                  <a:pt x="4133088" y="1810512"/>
                </a:lnTo>
                <a:lnTo>
                  <a:pt x="18288" y="1810512"/>
                </a:lnTo>
                <a:lnTo>
                  <a:pt x="18288" y="1444752"/>
                </a:lnTo>
              </a:path>
            </a:pathLst>
          </a:custGeom>
          <a:noFill/>
          <a:ln w="635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5" name="Estoque a fazer"/>
          <p:cNvSpPr txBox="1"/>
          <p:nvPr/>
        </p:nvSpPr>
        <p:spPr>
          <a:xfrm>
            <a:off x="502920" y="1600200"/>
            <a:ext cx="1234440" cy="6858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Trabalho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a fazer</a:t>
            </a:r>
            <a:endParaRPr lang="en-US" sz="1200" dirty="0"/>
          </a:p>
        </p:txBody>
      </p:sp>
      <p:sp>
        <p:nvSpPr>
          <p:cNvPr id="16" name="Estoque feito"/>
          <p:cNvSpPr txBox="1"/>
          <p:nvPr/>
        </p:nvSpPr>
        <p:spPr>
          <a:xfrm>
            <a:off x="4160520" y="1600200"/>
            <a:ext cx="1325880" cy="6858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Trabalho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realmente feito</a:t>
            </a:r>
            <a:endParaRPr lang="en-US" sz="1200" dirty="0"/>
          </a:p>
        </p:txBody>
      </p:sp>
      <p:sp>
        <p:nvSpPr>
          <p:cNvPr id="17" name="Estoque não descoberto"/>
          <p:cNvSpPr txBox="1"/>
          <p:nvPr/>
        </p:nvSpPr>
        <p:spPr>
          <a:xfrm>
            <a:off x="3383280" y="3017520"/>
            <a:ext cx="1371600" cy="6858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Retrabalho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não descoberto</a:t>
            </a:r>
            <a:endParaRPr lang="en-US" sz="1200" dirty="0"/>
          </a:p>
        </p:txBody>
      </p:sp>
      <p:sp>
        <p:nvSpPr>
          <p:cNvPr id="18" name="Estoque conhecido"/>
          <p:cNvSpPr txBox="1"/>
          <p:nvPr/>
        </p:nvSpPr>
        <p:spPr>
          <a:xfrm>
            <a:off x="502920" y="3017520"/>
            <a:ext cx="1463040" cy="6858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Retrabalho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conhecido</a:t>
            </a:r>
            <a:endParaRPr lang="en-US" sz="1200" dirty="0"/>
          </a:p>
        </p:txBody>
      </p:sp>
      <p:sp>
        <p:nvSpPr>
          <p:cNvPr id="19" name="Válvula execução"/>
          <p:cNvSpPr/>
          <p:nvPr/>
        </p:nvSpPr>
        <p:spPr>
          <a:xfrm>
            <a:off x="2487168" y="1787652"/>
            <a:ext cx="237744" cy="310896"/>
          </a:xfrm>
          <a:custGeom>
            <a:avLst/>
            <a:gdLst/>
            <a:ahLst/>
            <a:cxnLst/>
            <a:rect l="l" t="t" r="r" b="b"/>
            <a:pathLst>
              <a:path w="237744" h="310896">
                <a:moveTo>
                  <a:pt x="0" y="0"/>
                </a:moveTo>
                <a:lnTo>
                  <a:pt x="237744" y="0"/>
                </a:lnTo>
                <a:lnTo>
                  <a:pt x="0" y="310896"/>
                </a:lnTo>
                <a:lnTo>
                  <a:pt x="237744" y="310896"/>
                </a:lnTo>
                <a:close/>
              </a:path>
            </a:pathLst>
          </a:custGeom>
          <a:solidFill>
            <a:schemeClr val="bg1"/>
          </a:solidFill>
          <a:ln w="15875">
            <a:solidFill>
              <a:schemeClr val="tx2"/>
            </a:solidFill>
            <a:prstDash val="solid"/>
          </a:ln>
        </p:spPr>
      </p:sp>
      <p:sp>
        <p:nvSpPr>
          <p:cNvPr id="20" name="Válvula descoberta"/>
          <p:cNvSpPr/>
          <p:nvPr/>
        </p:nvSpPr>
        <p:spPr>
          <a:xfrm>
            <a:off x="2578608" y="3204972"/>
            <a:ext cx="237744" cy="310896"/>
          </a:xfrm>
          <a:custGeom>
            <a:avLst/>
            <a:gdLst/>
            <a:ahLst/>
            <a:cxnLst/>
            <a:rect l="l" t="t" r="r" b="b"/>
            <a:pathLst>
              <a:path w="237744" h="310896">
                <a:moveTo>
                  <a:pt x="0" y="0"/>
                </a:moveTo>
                <a:lnTo>
                  <a:pt x="237744" y="0"/>
                </a:lnTo>
                <a:lnTo>
                  <a:pt x="0" y="310896"/>
                </a:lnTo>
                <a:lnTo>
                  <a:pt x="237744" y="310896"/>
                </a:lnTo>
                <a:close/>
              </a:path>
            </a:pathLst>
          </a:custGeom>
          <a:solidFill>
            <a:schemeClr val="bg1"/>
          </a:solidFill>
          <a:ln w="15875">
            <a:solidFill>
              <a:schemeClr val="tx2"/>
            </a:solidFill>
            <a:prstDash val="solid"/>
          </a:ln>
        </p:spPr>
      </p:sp>
      <p:sp>
        <p:nvSpPr>
          <p:cNvPr id="21" name="Válvula obsolescência"/>
          <p:cNvSpPr/>
          <p:nvPr/>
        </p:nvSpPr>
        <p:spPr>
          <a:xfrm>
            <a:off x="2898648" y="3959352"/>
            <a:ext cx="237744" cy="310896"/>
          </a:xfrm>
          <a:custGeom>
            <a:avLst/>
            <a:gdLst/>
            <a:ahLst/>
            <a:cxnLst/>
            <a:rect l="l" t="t" r="r" b="b"/>
            <a:pathLst>
              <a:path w="237744" h="310896">
                <a:moveTo>
                  <a:pt x="0" y="0"/>
                </a:moveTo>
                <a:lnTo>
                  <a:pt x="237744" y="0"/>
                </a:lnTo>
                <a:lnTo>
                  <a:pt x="0" y="310896"/>
                </a:lnTo>
                <a:lnTo>
                  <a:pt x="237744" y="310896"/>
                </a:lnTo>
                <a:close/>
              </a:path>
            </a:pathLst>
          </a:custGeom>
          <a:solidFill>
            <a:schemeClr val="bg1"/>
          </a:solidFill>
          <a:ln w="15875">
            <a:solidFill>
              <a:schemeClr val="tx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463040" y="12344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Pessoas · Produtividade · Qualidade</a:t>
            </a:r>
            <a:endParaRPr lang="en-US" sz="1100" dirty="0"/>
          </a:p>
        </p:txBody>
      </p:sp>
      <p:sp>
        <p:nvSpPr>
          <p:cNvPr id="23" name="Influência execução"/>
          <p:cNvSpPr/>
          <p:nvPr/>
        </p:nvSpPr>
        <p:spPr>
          <a:xfrm>
            <a:off x="2587752" y="1463040"/>
            <a:ext cx="45720" cy="310896"/>
          </a:xfrm>
          <a:custGeom>
            <a:avLst/>
            <a:gdLst/>
            <a:ahLst/>
            <a:cxnLst/>
            <a:rect l="l" t="t" r="r" b="b"/>
            <a:pathLst>
              <a:path w="45720" h="310896">
                <a:moveTo>
                  <a:pt x="18288" y="18288"/>
                </a:moveTo>
                <a:lnTo>
                  <a:pt x="18288" y="292608"/>
                </a:lnTo>
              </a:path>
            </a:pathLst>
          </a:custGeom>
          <a:noFill/>
          <a:ln w="127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2148840" y="21305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Execução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3813048" y="239572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Erros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(1 − qualidade)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2194560" y="3547872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Descoberta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do retrabalho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2468880" y="429768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Obsolescência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3794760" y="431596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Mudanças da Marinha</a:t>
            </a:r>
            <a:endParaRPr lang="en-US" sz="1100" dirty="0"/>
          </a:p>
        </p:txBody>
      </p:sp>
      <p:sp>
        <p:nvSpPr>
          <p:cNvPr id="29" name="Influência mudanças"/>
          <p:cNvSpPr/>
          <p:nvPr/>
        </p:nvSpPr>
        <p:spPr>
          <a:xfrm>
            <a:off x="3182112" y="4206240"/>
            <a:ext cx="603504" cy="219456"/>
          </a:xfrm>
          <a:custGeom>
            <a:avLst/>
            <a:gdLst/>
            <a:ahLst/>
            <a:cxnLst/>
            <a:rect l="l" t="t" r="r" b="b"/>
            <a:pathLst>
              <a:path w="603504" h="219456">
                <a:moveTo>
                  <a:pt x="585216" y="201168"/>
                </a:moveTo>
                <a:lnTo>
                  <a:pt x="18288" y="18288"/>
                </a:lnTo>
              </a:path>
            </a:pathLst>
          </a:custGeom>
          <a:noFill/>
          <a:ln w="1587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0" name="Ícone Qualidade &lt; 100%"/>
          <p:cNvSpPr/>
          <p:nvPr/>
        </p:nvSpPr>
        <p:spPr>
          <a:xfrm>
            <a:off x="5897880" y="1325880"/>
            <a:ext cx="457200" cy="457200"/>
          </a:xfrm>
          <a:prstGeom prst="ellipse">
            <a:avLst/>
          </a:prstGeom>
          <a:solidFill>
            <a:schemeClr val="tx2">
              <a:alpha val="15000"/>
            </a:schemeClr>
          </a:solidFill>
          <a:ln/>
        </p:spPr>
      </p:sp>
      <p:pic>
        <p:nvPicPr>
          <p:cNvPr id="31" name="Image 0" descr="Qualidade &lt; 100%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07608" y="1435608"/>
            <a:ext cx="237744" cy="237744"/>
          </a:xfrm>
          <a:prstGeom prst="rect">
            <a:avLst/>
          </a:prstGeom>
        </p:spPr>
      </p:pic>
      <p:sp>
        <p:nvSpPr>
          <p:cNvPr id="32" name="Text 29"/>
          <p:cNvSpPr txBox="1"/>
          <p:nvPr/>
        </p:nvSpPr>
        <p:spPr>
          <a:xfrm>
            <a:off x="6492240" y="13441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Qualidade &lt; 100%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6492240" y="1636776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Parte do trabalho “feito” contém erros que ninguém viu: o retrabalho não descoberto.</a:t>
            </a:r>
            <a:endParaRPr lang="en-US" sz="1200" dirty="0"/>
          </a:p>
        </p:txBody>
      </p:sp>
      <p:sp>
        <p:nvSpPr>
          <p:cNvPr id="34" name="Ícone Descoberta tardia"/>
          <p:cNvSpPr/>
          <p:nvPr/>
        </p:nvSpPr>
        <p:spPr>
          <a:xfrm>
            <a:off x="5897880" y="2423160"/>
            <a:ext cx="457200" cy="457200"/>
          </a:xfrm>
          <a:prstGeom prst="ellipse">
            <a:avLst/>
          </a:prstGeom>
          <a:solidFill>
            <a:schemeClr val="tx2">
              <a:alpha val="15000"/>
            </a:schemeClr>
          </a:solidFill>
          <a:ln/>
        </p:spPr>
      </p:sp>
      <p:pic>
        <p:nvPicPr>
          <p:cNvPr id="35" name="Image 1" descr="Descoberta tardi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7608" y="2532888"/>
            <a:ext cx="237744" cy="237744"/>
          </a:xfrm>
          <a:prstGeom prst="rect">
            <a:avLst/>
          </a:prstGeom>
        </p:spPr>
      </p:pic>
      <p:sp>
        <p:nvSpPr>
          <p:cNvPr id="36" name="Text 32"/>
          <p:cNvSpPr txBox="1"/>
          <p:nvPr/>
        </p:nvSpPr>
        <p:spPr>
          <a:xfrm>
            <a:off x="6492240" y="24414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Descoberta tardia</a:t>
            </a:r>
            <a:endParaRPr lang="en-US" sz="1400" dirty="0"/>
          </a:p>
        </p:txBody>
      </p:sp>
      <p:sp>
        <p:nvSpPr>
          <p:cNvPr id="37" name="Text 33"/>
          <p:cNvSpPr txBox="1"/>
          <p:nvPr/>
        </p:nvSpPr>
        <p:spPr>
          <a:xfrm>
            <a:off x="6492240" y="2734056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Os erros aparecem meses depois — o projeto parece 90% pronto por muito tempo.</a:t>
            </a:r>
            <a:endParaRPr lang="en-US" sz="1200" dirty="0"/>
          </a:p>
        </p:txBody>
      </p:sp>
      <p:sp>
        <p:nvSpPr>
          <p:cNvPr id="38" name="Ícone Mudanças do cliente"/>
          <p:cNvSpPr/>
          <p:nvPr/>
        </p:nvSpPr>
        <p:spPr>
          <a:xfrm>
            <a:off x="5897880" y="3520440"/>
            <a:ext cx="457200" cy="457200"/>
          </a:xfrm>
          <a:prstGeom prst="ellipse">
            <a:avLst/>
          </a:prstGeom>
          <a:solidFill>
            <a:schemeClr val="accent1">
              <a:alpha val="15000"/>
            </a:schemeClr>
          </a:solidFill>
          <a:ln/>
        </p:spPr>
      </p:sp>
      <p:pic>
        <p:nvPicPr>
          <p:cNvPr id="39" name="Image 2" descr="Mudanças do client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7608" y="3630168"/>
            <a:ext cx="237744" cy="237744"/>
          </a:xfrm>
          <a:prstGeom prst="rect">
            <a:avLst/>
          </a:prstGeom>
        </p:spPr>
      </p:pic>
      <p:sp>
        <p:nvSpPr>
          <p:cNvPr id="40" name="Text 35"/>
          <p:cNvSpPr txBox="1"/>
          <p:nvPr/>
        </p:nvSpPr>
        <p:spPr>
          <a:xfrm>
            <a:off x="6492240" y="35387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Mudanças do cliente</a:t>
            </a:r>
            <a:endParaRPr lang="en-US" sz="1400" dirty="0"/>
          </a:p>
        </p:txBody>
      </p:sp>
      <p:sp>
        <p:nvSpPr>
          <p:cNvPr id="41" name="Text 36"/>
          <p:cNvSpPr txBox="1"/>
          <p:nvPr/>
        </p:nvSpPr>
        <p:spPr>
          <a:xfrm>
            <a:off x="6492240" y="3831336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Tornam obsoleto o trabalho já pronto e o devolvem ao ciclo.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(iii)  O MODELO CLD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As respostas gerenciais realimentam o problema</a:t>
            </a:r>
            <a:endParaRPr lang="en-US" sz="2600" dirty="0"/>
          </a:p>
        </p:txBody>
      </p:sp>
      <p:sp>
        <p:nvSpPr>
          <p:cNvPr id="4" name="Progresso i"/>
          <p:cNvSpPr txBox="1"/>
          <p:nvPr/>
        </p:nvSpPr>
        <p:spPr>
          <a:xfrm>
            <a:off x="6720840" y="274320"/>
            <a:ext cx="274320" cy="274320"/>
          </a:xfrm>
          <a:prstGeom prst="ellipse">
            <a:avLst/>
          </a:prstGeom>
          <a:noFill/>
          <a:ln w="9525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i</a:t>
            </a:r>
            <a:endParaRPr lang="en-US" sz="1000" dirty="0"/>
          </a:p>
        </p:txBody>
      </p:sp>
      <p:sp>
        <p:nvSpPr>
          <p:cNvPr id="5" name="Progresso ii"/>
          <p:cNvSpPr txBox="1"/>
          <p:nvPr/>
        </p:nvSpPr>
        <p:spPr>
          <a:xfrm>
            <a:off x="7059168" y="274320"/>
            <a:ext cx="274320" cy="274320"/>
          </a:xfrm>
          <a:prstGeom prst="ellipse">
            <a:avLst/>
          </a:prstGeom>
          <a:noFill/>
          <a:ln w="9525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ii</a:t>
            </a:r>
            <a:endParaRPr lang="en-US" sz="1000" dirty="0"/>
          </a:p>
        </p:txBody>
      </p:sp>
      <p:sp>
        <p:nvSpPr>
          <p:cNvPr id="6" name="Progresso iii"/>
          <p:cNvSpPr txBox="1"/>
          <p:nvPr/>
        </p:nvSpPr>
        <p:spPr>
          <a:xfrm>
            <a:off x="7397496" y="274320"/>
            <a:ext cx="274320" cy="27432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iii</a:t>
            </a:r>
            <a:endParaRPr lang="en-US" sz="1000" dirty="0"/>
          </a:p>
        </p:txBody>
      </p:sp>
      <p:sp>
        <p:nvSpPr>
          <p:cNvPr id="7" name="Progresso iv"/>
          <p:cNvSpPr txBox="1"/>
          <p:nvPr/>
        </p:nvSpPr>
        <p:spPr>
          <a:xfrm>
            <a:off x="7735824" y="274320"/>
            <a:ext cx="274320" cy="274320"/>
          </a:xfrm>
          <a:prstGeom prst="ellipse">
            <a:avLst/>
          </a:prstGeom>
          <a:noFill/>
          <a:ln w="9525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iv</a:t>
            </a:r>
            <a:endParaRPr lang="en-US" sz="1000" dirty="0"/>
          </a:p>
        </p:txBody>
      </p:sp>
      <p:sp>
        <p:nvSpPr>
          <p:cNvPr id="8" name="Progresso v"/>
          <p:cNvSpPr txBox="1"/>
          <p:nvPr/>
        </p:nvSpPr>
        <p:spPr>
          <a:xfrm>
            <a:off x="8074152" y="274320"/>
            <a:ext cx="274320" cy="274320"/>
          </a:xfrm>
          <a:prstGeom prst="ellipse">
            <a:avLst/>
          </a:prstGeom>
          <a:noFill/>
          <a:ln w="9525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v</a:t>
            </a:r>
            <a:endParaRPr lang="en-US" sz="1000" dirty="0"/>
          </a:p>
        </p:txBody>
      </p:sp>
      <p:sp>
        <p:nvSpPr>
          <p:cNvPr id="9" name="Progresso vi"/>
          <p:cNvSpPr txBox="1"/>
          <p:nvPr/>
        </p:nvSpPr>
        <p:spPr>
          <a:xfrm>
            <a:off x="8412480" y="274320"/>
            <a:ext cx="274320" cy="274320"/>
          </a:xfrm>
          <a:prstGeom prst="ellipse">
            <a:avLst/>
          </a:prstGeom>
          <a:noFill/>
          <a:ln w="9525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vi</a:t>
            </a:r>
            <a:endParaRPr lang="en-US" sz="1000" dirty="0"/>
          </a:p>
        </p:txBody>
      </p:sp>
      <p:sp>
        <p:nvSpPr>
          <p:cNvPr id="10" name="Elo WR-SP"/>
          <p:cNvSpPr/>
          <p:nvPr/>
        </p:nvSpPr>
        <p:spPr>
          <a:xfrm>
            <a:off x="1901952" y="2907792"/>
            <a:ext cx="1229868" cy="45720"/>
          </a:xfrm>
          <a:custGeom>
            <a:avLst/>
            <a:gdLst/>
            <a:ahLst/>
            <a:cxnLst/>
            <a:rect l="l" t="t" r="r" b="b"/>
            <a:pathLst>
              <a:path w="1229868" h="45720">
                <a:moveTo>
                  <a:pt x="18288" y="18288"/>
                </a:moveTo>
                <a:quadBezTo>
                  <a:pt x="589788" y="18288"/>
                  <a:pt x="1211580" y="18288"/>
                </a:quadBezTo>
              </a:path>
            </a:pathLst>
          </a:custGeom>
          <a:noFill/>
          <a:ln w="158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1" name="Polaridade +"/>
          <p:cNvSpPr txBox="1"/>
          <p:nvPr/>
        </p:nvSpPr>
        <p:spPr>
          <a:xfrm>
            <a:off x="2766243" y="2679192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+</a:t>
            </a:r>
            <a:endParaRPr lang="en-US" sz="1300" dirty="0"/>
          </a:p>
        </p:txBody>
      </p:sp>
      <p:sp>
        <p:nvSpPr>
          <p:cNvPr id="12" name="Elo SP-FT"/>
          <p:cNvSpPr/>
          <p:nvPr/>
        </p:nvSpPr>
        <p:spPr>
          <a:xfrm>
            <a:off x="2897264" y="2176272"/>
            <a:ext cx="556790" cy="512064"/>
          </a:xfrm>
          <a:custGeom>
            <a:avLst/>
            <a:gdLst/>
            <a:ahLst/>
            <a:cxnLst/>
            <a:rect l="l" t="t" r="r" b="b"/>
            <a:pathLst>
              <a:path w="556790" h="512064">
                <a:moveTo>
                  <a:pt x="538490" y="493776"/>
                </a:moveTo>
                <a:quadBezTo>
                  <a:pt x="260604" y="173004"/>
                  <a:pt x="18288" y="18288"/>
                </a:quadBezTo>
              </a:path>
            </a:pathLst>
          </a:custGeom>
          <a:noFill/>
          <a:ln w="158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3" name="Polaridade +"/>
          <p:cNvSpPr txBox="1"/>
          <p:nvPr/>
        </p:nvSpPr>
        <p:spPr>
          <a:xfrm>
            <a:off x="2836271" y="2246458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+</a:t>
            </a:r>
            <a:endParaRPr lang="en-US" sz="1300" dirty="0"/>
          </a:p>
        </p:txBody>
      </p:sp>
      <p:sp>
        <p:nvSpPr>
          <p:cNvPr id="14" name="Elo FT-WR"/>
          <p:cNvSpPr/>
          <p:nvPr/>
        </p:nvSpPr>
        <p:spPr>
          <a:xfrm>
            <a:off x="1556322" y="2157984"/>
            <a:ext cx="590671" cy="512064"/>
          </a:xfrm>
          <a:custGeom>
            <a:avLst/>
            <a:gdLst/>
            <a:ahLst/>
            <a:cxnLst/>
            <a:rect l="l" t="t" r="r" b="b"/>
            <a:pathLst>
              <a:path w="590671" h="512064">
                <a:moveTo>
                  <a:pt x="572414" y="18288"/>
                </a:moveTo>
                <a:quadBezTo>
                  <a:pt x="293797" y="189921"/>
                  <a:pt x="18288" y="493776"/>
                </a:quadBezTo>
              </a:path>
            </a:pathLst>
          </a:custGeom>
          <a:noFill/>
          <a:ln w="158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5" name="Polaridade −"/>
          <p:cNvSpPr txBox="1"/>
          <p:nvPr/>
        </p:nvSpPr>
        <p:spPr>
          <a:xfrm>
            <a:off x="1675084" y="2506944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−</a:t>
            </a:r>
            <a:endParaRPr lang="en-US" sz="1300" dirty="0"/>
          </a:p>
        </p:txBody>
      </p:sp>
      <p:sp>
        <p:nvSpPr>
          <p:cNvPr id="16" name="Elo SP-HE"/>
          <p:cNvSpPr/>
          <p:nvPr/>
        </p:nvSpPr>
        <p:spPr>
          <a:xfrm>
            <a:off x="2856559" y="3163824"/>
            <a:ext cx="614194" cy="603504"/>
          </a:xfrm>
          <a:custGeom>
            <a:avLst/>
            <a:gdLst/>
            <a:ahLst/>
            <a:cxnLst/>
            <a:rect l="l" t="t" r="r" b="b"/>
            <a:pathLst>
              <a:path w="614194" h="603504">
                <a:moveTo>
                  <a:pt x="595914" y="18288"/>
                </a:moveTo>
                <a:quadBezTo>
                  <a:pt x="304861" y="381579"/>
                  <a:pt x="18288" y="585216"/>
                </a:quadBezTo>
              </a:path>
            </a:pathLst>
          </a:custGeom>
          <a:noFill/>
          <a:ln w="158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7" name="Polaridade +"/>
          <p:cNvSpPr txBox="1"/>
          <p:nvPr/>
        </p:nvSpPr>
        <p:spPr>
          <a:xfrm>
            <a:off x="2807928" y="3443302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+</a:t>
            </a:r>
            <a:endParaRPr lang="en-US" sz="1300" dirty="0"/>
          </a:p>
        </p:txBody>
      </p:sp>
      <p:sp>
        <p:nvSpPr>
          <p:cNvPr id="18" name="Elo HE-WR"/>
          <p:cNvSpPr/>
          <p:nvPr/>
        </p:nvSpPr>
        <p:spPr>
          <a:xfrm>
            <a:off x="1537661" y="3182112"/>
            <a:ext cx="648605" cy="603504"/>
          </a:xfrm>
          <a:custGeom>
            <a:avLst/>
            <a:gdLst/>
            <a:ahLst/>
            <a:cxnLst/>
            <a:rect l="l" t="t" r="r" b="b"/>
            <a:pathLst>
              <a:path w="648605" h="603504">
                <a:moveTo>
                  <a:pt x="630296" y="585216"/>
                </a:moveTo>
                <a:quadBezTo>
                  <a:pt x="308793" y="364754"/>
                  <a:pt x="18288" y="18288"/>
                </a:quadBezTo>
              </a:path>
            </a:pathLst>
          </a:custGeom>
          <a:noFill/>
          <a:ln w="158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9" name="Polaridade −"/>
          <p:cNvSpPr txBox="1"/>
          <p:nvPr/>
        </p:nvSpPr>
        <p:spPr>
          <a:xfrm>
            <a:off x="1666857" y="3128198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−</a:t>
            </a:r>
            <a:endParaRPr lang="en-US" sz="1300" dirty="0"/>
          </a:p>
        </p:txBody>
      </p:sp>
      <p:sp>
        <p:nvSpPr>
          <p:cNvPr id="20" name="Elo FT-CG"/>
          <p:cNvSpPr/>
          <p:nvPr/>
        </p:nvSpPr>
        <p:spPr>
          <a:xfrm>
            <a:off x="2930652" y="1572768"/>
            <a:ext cx="1159066" cy="312992"/>
          </a:xfrm>
          <a:custGeom>
            <a:avLst/>
            <a:gdLst/>
            <a:ahLst/>
            <a:cxnLst/>
            <a:rect l="l" t="t" r="r" b="b"/>
            <a:pathLst>
              <a:path w="1159066" h="312992">
                <a:moveTo>
                  <a:pt x="18288" y="294711"/>
                </a:moveTo>
                <a:quadBezTo>
                  <a:pt x="635142" y="193761"/>
                  <a:pt x="1140805" y="18288"/>
                </a:quadBezTo>
              </a:path>
            </a:pathLst>
          </a:custGeom>
          <a:noFill/>
          <a:ln w="158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1" name="Polaridade +"/>
          <p:cNvSpPr txBox="1"/>
          <p:nvPr/>
        </p:nvSpPr>
        <p:spPr>
          <a:xfrm>
            <a:off x="3726874" y="1416929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+</a:t>
            </a:r>
            <a:endParaRPr lang="en-US" sz="1300" dirty="0"/>
          </a:p>
        </p:txBody>
      </p:sp>
      <p:sp>
        <p:nvSpPr>
          <p:cNvPr id="22" name="Elo FT-IN"/>
          <p:cNvSpPr/>
          <p:nvPr/>
        </p:nvSpPr>
        <p:spPr>
          <a:xfrm>
            <a:off x="2930652" y="1941599"/>
            <a:ext cx="1549908" cy="221253"/>
          </a:xfrm>
          <a:custGeom>
            <a:avLst/>
            <a:gdLst/>
            <a:ahLst/>
            <a:cxnLst/>
            <a:rect l="l" t="t" r="r" b="b"/>
            <a:pathLst>
              <a:path w="1549908" h="221253">
                <a:moveTo>
                  <a:pt x="18288" y="18288"/>
                </a:moveTo>
                <a:quadBezTo>
                  <a:pt x="806867" y="57059"/>
                  <a:pt x="1531620" y="202997"/>
                </a:quadBezTo>
              </a:path>
            </a:pathLst>
          </a:custGeom>
          <a:noFill/>
          <a:ln w="158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3" name="Polaridade +"/>
          <p:cNvSpPr txBox="1"/>
          <p:nvPr/>
        </p:nvSpPr>
        <p:spPr>
          <a:xfrm>
            <a:off x="4047917" y="2097849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+</a:t>
            </a:r>
            <a:endParaRPr lang="en-US" sz="1300" dirty="0"/>
          </a:p>
        </p:txBody>
      </p:sp>
      <p:sp>
        <p:nvSpPr>
          <p:cNvPr id="24" name="Elo SP-FS"/>
          <p:cNvSpPr/>
          <p:nvPr/>
        </p:nvSpPr>
        <p:spPr>
          <a:xfrm>
            <a:off x="4165092" y="3015445"/>
            <a:ext cx="391820" cy="148379"/>
          </a:xfrm>
          <a:custGeom>
            <a:avLst/>
            <a:gdLst/>
            <a:ahLst/>
            <a:cxnLst/>
            <a:rect l="l" t="t" r="r" b="b"/>
            <a:pathLst>
              <a:path w="391820" h="148379">
                <a:moveTo>
                  <a:pt x="18288" y="18288"/>
                </a:moveTo>
                <a:quadBezTo>
                  <a:pt x="230246" y="61722"/>
                  <a:pt x="373532" y="130119"/>
                </a:quadBezTo>
              </a:path>
            </a:pathLst>
          </a:custGeom>
          <a:noFill/>
          <a:ln w="158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5" name="Polaridade +"/>
          <p:cNvSpPr txBox="1"/>
          <p:nvPr/>
        </p:nvSpPr>
        <p:spPr>
          <a:xfrm>
            <a:off x="4330049" y="3119007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+</a:t>
            </a:r>
            <a:endParaRPr lang="en-US" sz="1300" dirty="0"/>
          </a:p>
        </p:txBody>
      </p:sp>
      <p:sp>
        <p:nvSpPr>
          <p:cNvPr id="26" name="Elo HE-FD"/>
          <p:cNvSpPr/>
          <p:nvPr/>
        </p:nvSpPr>
        <p:spPr>
          <a:xfrm>
            <a:off x="2862072" y="3936568"/>
            <a:ext cx="1344168" cy="124349"/>
          </a:xfrm>
          <a:custGeom>
            <a:avLst/>
            <a:gdLst/>
            <a:ahLst/>
            <a:cxnLst/>
            <a:rect l="l" t="t" r="r" b="b"/>
            <a:pathLst>
              <a:path w="1344168" h="124349">
                <a:moveTo>
                  <a:pt x="18288" y="50292"/>
                </a:moveTo>
                <a:quadBezTo>
                  <a:pt x="662117" y="18288"/>
                  <a:pt x="1325880" y="106070"/>
                </a:quadBezTo>
              </a:path>
            </a:pathLst>
          </a:custGeom>
          <a:noFill/>
          <a:ln w="158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7" name="Polaridade +"/>
          <p:cNvSpPr txBox="1"/>
          <p:nvPr/>
        </p:nvSpPr>
        <p:spPr>
          <a:xfrm>
            <a:off x="3810332" y="4020862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+</a:t>
            </a:r>
            <a:endParaRPr lang="en-US" sz="1300" dirty="0"/>
          </a:p>
        </p:txBody>
      </p:sp>
      <p:sp>
        <p:nvSpPr>
          <p:cNvPr id="28" name="Elo CG-PR"/>
          <p:cNvSpPr/>
          <p:nvPr/>
        </p:nvSpPr>
        <p:spPr>
          <a:xfrm>
            <a:off x="5262372" y="1502520"/>
            <a:ext cx="1252728" cy="115856"/>
          </a:xfrm>
          <a:custGeom>
            <a:avLst/>
            <a:gdLst/>
            <a:ahLst/>
            <a:cxnLst/>
            <a:rect l="l" t="t" r="r" b="b"/>
            <a:pathLst>
              <a:path w="1252728" h="115856">
                <a:moveTo>
                  <a:pt x="18288" y="18288"/>
                </a:moveTo>
                <a:quadBezTo>
                  <a:pt x="560253" y="97475"/>
                  <a:pt x="1234440" y="97566"/>
                </a:quadBezTo>
              </a:path>
            </a:pathLst>
          </a:custGeom>
          <a:noFill/>
          <a:ln w="158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9" name="Polaridade −"/>
          <p:cNvSpPr txBox="1"/>
          <p:nvPr/>
        </p:nvSpPr>
        <p:spPr>
          <a:xfrm>
            <a:off x="6135004" y="1350026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−</a:t>
            </a:r>
            <a:endParaRPr lang="en-US" sz="1300" dirty="0"/>
          </a:p>
        </p:txBody>
      </p:sp>
      <p:sp>
        <p:nvSpPr>
          <p:cNvPr id="30" name="Elo IN-PR"/>
          <p:cNvSpPr/>
          <p:nvPr/>
        </p:nvSpPr>
        <p:spPr>
          <a:xfrm>
            <a:off x="5376672" y="1706462"/>
            <a:ext cx="1138428" cy="374308"/>
          </a:xfrm>
          <a:custGeom>
            <a:avLst/>
            <a:gdLst/>
            <a:ahLst/>
            <a:cxnLst/>
            <a:rect l="l" t="t" r="r" b="b"/>
            <a:pathLst>
              <a:path w="1138428" h="374308">
                <a:moveTo>
                  <a:pt x="18288" y="355976"/>
                </a:moveTo>
                <a:quadBezTo>
                  <a:pt x="609448" y="126187"/>
                  <a:pt x="1120140" y="18288"/>
                </a:quadBezTo>
              </a:path>
            </a:pathLst>
          </a:custGeom>
          <a:noFill/>
          <a:ln w="158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31" name="Polaridade −"/>
          <p:cNvSpPr txBox="1"/>
          <p:nvPr/>
        </p:nvSpPr>
        <p:spPr>
          <a:xfrm>
            <a:off x="6219890" y="1778063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−</a:t>
            </a:r>
            <a:endParaRPr lang="en-US" sz="1300" dirty="0"/>
          </a:p>
        </p:txBody>
      </p:sp>
      <p:sp>
        <p:nvSpPr>
          <p:cNvPr id="32" name="Elo IN-RT"/>
          <p:cNvSpPr/>
          <p:nvPr/>
        </p:nvSpPr>
        <p:spPr>
          <a:xfrm>
            <a:off x="5163819" y="2459736"/>
            <a:ext cx="1543882" cy="1252728"/>
          </a:xfrm>
          <a:custGeom>
            <a:avLst/>
            <a:gdLst/>
            <a:ahLst/>
            <a:cxnLst/>
            <a:rect l="l" t="t" r="r" b="b"/>
            <a:pathLst>
              <a:path w="1543882" h="1252728">
                <a:moveTo>
                  <a:pt x="18288" y="18288"/>
                </a:moveTo>
                <a:quadBezTo>
                  <a:pt x="762975" y="742859"/>
                  <a:pt x="1525585" y="1234440"/>
                </a:quadBezTo>
              </a:path>
            </a:pathLst>
          </a:custGeom>
          <a:noFill/>
          <a:ln w="158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33" name="Polaridade +"/>
          <p:cNvSpPr txBox="1"/>
          <p:nvPr/>
        </p:nvSpPr>
        <p:spPr>
          <a:xfrm>
            <a:off x="6358537" y="3264915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+</a:t>
            </a:r>
            <a:endParaRPr lang="en-US" sz="1300" dirty="0"/>
          </a:p>
        </p:txBody>
      </p:sp>
      <p:sp>
        <p:nvSpPr>
          <p:cNvPr id="34" name="Elo FS-RT"/>
          <p:cNvSpPr/>
          <p:nvPr/>
        </p:nvSpPr>
        <p:spPr>
          <a:xfrm>
            <a:off x="5605272" y="3585874"/>
            <a:ext cx="1001268" cy="292571"/>
          </a:xfrm>
          <a:custGeom>
            <a:avLst/>
            <a:gdLst/>
            <a:ahLst/>
            <a:cxnLst/>
            <a:rect l="l" t="t" r="r" b="b"/>
            <a:pathLst>
              <a:path w="1001268" h="292571">
                <a:moveTo>
                  <a:pt x="18288" y="18288"/>
                </a:moveTo>
                <a:quadBezTo>
                  <a:pt x="451439" y="178217"/>
                  <a:pt x="982980" y="274320"/>
                </a:quadBezTo>
              </a:path>
            </a:pathLst>
          </a:custGeom>
          <a:noFill/>
          <a:ln w="158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35" name="Polaridade +"/>
          <p:cNvSpPr txBox="1"/>
          <p:nvPr/>
        </p:nvSpPr>
        <p:spPr>
          <a:xfrm>
            <a:off x="6305607" y="3575092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+</a:t>
            </a:r>
            <a:endParaRPr lang="en-US" sz="1300" dirty="0"/>
          </a:p>
        </p:txBody>
      </p:sp>
      <p:sp>
        <p:nvSpPr>
          <p:cNvPr id="36" name="Elo FD-RT"/>
          <p:cNvSpPr/>
          <p:nvPr/>
        </p:nvSpPr>
        <p:spPr>
          <a:xfrm>
            <a:off x="4828032" y="3994401"/>
            <a:ext cx="1778508" cy="133984"/>
          </a:xfrm>
          <a:custGeom>
            <a:avLst/>
            <a:gdLst/>
            <a:ahLst/>
            <a:cxnLst/>
            <a:rect l="l" t="t" r="r" b="b"/>
            <a:pathLst>
              <a:path w="1778508" h="133984">
                <a:moveTo>
                  <a:pt x="18288" y="98664"/>
                </a:moveTo>
                <a:quadBezTo>
                  <a:pt x="983254" y="115672"/>
                  <a:pt x="1760220" y="18288"/>
                </a:quadBezTo>
              </a:path>
            </a:pathLst>
          </a:custGeom>
          <a:noFill/>
          <a:ln w="158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37" name="Polaridade +"/>
          <p:cNvSpPr txBox="1"/>
          <p:nvPr/>
        </p:nvSpPr>
        <p:spPr>
          <a:xfrm>
            <a:off x="6157714" y="3800718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+</a:t>
            </a:r>
            <a:endParaRPr lang="en-US" sz="1300" dirty="0"/>
          </a:p>
        </p:txBody>
      </p:sp>
      <p:sp>
        <p:nvSpPr>
          <p:cNvPr id="38" name="Elo MM-WR"/>
          <p:cNvSpPr/>
          <p:nvPr/>
        </p:nvSpPr>
        <p:spPr>
          <a:xfrm>
            <a:off x="979745" y="1700784"/>
            <a:ext cx="304038" cy="969264"/>
          </a:xfrm>
          <a:custGeom>
            <a:avLst/>
            <a:gdLst/>
            <a:ahLst/>
            <a:cxnLst/>
            <a:rect l="l" t="t" r="r" b="b"/>
            <a:pathLst>
              <a:path w="304038" h="969264">
                <a:moveTo>
                  <a:pt x="18288" y="18288"/>
                </a:moveTo>
                <a:quadBezTo>
                  <a:pt x="184343" y="490393"/>
                  <a:pt x="285750" y="950976"/>
                </a:quadBezTo>
              </a:path>
            </a:pathLst>
          </a:custGeom>
          <a:noFill/>
          <a:ln w="158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39" name="Polaridade +"/>
          <p:cNvSpPr txBox="1"/>
          <p:nvPr/>
        </p:nvSpPr>
        <p:spPr>
          <a:xfrm>
            <a:off x="986090" y="2333352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+</a:t>
            </a:r>
            <a:endParaRPr lang="en-US" sz="1300" dirty="0"/>
          </a:p>
        </p:txBody>
      </p:sp>
      <p:sp>
        <p:nvSpPr>
          <p:cNvPr id="40" name="Elo PR-WR"/>
          <p:cNvSpPr/>
          <p:nvPr/>
        </p:nvSpPr>
        <p:spPr>
          <a:xfrm>
            <a:off x="1390526" y="850392"/>
            <a:ext cx="5607492" cy="1819656"/>
          </a:xfrm>
          <a:custGeom>
            <a:avLst/>
            <a:gdLst/>
            <a:ahLst/>
            <a:cxnLst/>
            <a:rect l="l" t="t" r="r" b="b"/>
            <a:pathLst>
              <a:path w="5607492" h="1819656">
                <a:moveTo>
                  <a:pt x="5589179" y="594360"/>
                </a:moveTo>
                <a:cubicBezTo>
                  <a:pt x="5193152" y="18288"/>
                  <a:pt x="529712" y="109728"/>
                  <a:pt x="18288" y="1801368"/>
                </a:cubicBezTo>
              </a:path>
            </a:pathLst>
          </a:custGeom>
          <a:noFill/>
          <a:ln w="158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41" name="Polaridade −"/>
          <p:cNvSpPr txBox="1"/>
          <p:nvPr/>
        </p:nvSpPr>
        <p:spPr>
          <a:xfrm>
            <a:off x="1661942" y="1815728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−</a:t>
            </a:r>
            <a:endParaRPr lang="en-US" sz="1300" dirty="0"/>
          </a:p>
        </p:txBody>
      </p:sp>
      <p:sp>
        <p:nvSpPr>
          <p:cNvPr id="42" name="Elo RT-WR"/>
          <p:cNvSpPr/>
          <p:nvPr/>
        </p:nvSpPr>
        <p:spPr>
          <a:xfrm>
            <a:off x="1379438" y="3182112"/>
            <a:ext cx="5630773" cy="1819656"/>
          </a:xfrm>
          <a:custGeom>
            <a:avLst/>
            <a:gdLst/>
            <a:ahLst/>
            <a:cxnLst/>
            <a:rect l="l" t="t" r="r" b="b"/>
            <a:pathLst>
              <a:path w="5630773" h="1819656">
                <a:moveTo>
                  <a:pt x="5612496" y="1005840"/>
                </a:moveTo>
                <a:cubicBezTo>
                  <a:pt x="5295656" y="1801368"/>
                  <a:pt x="449336" y="1664208"/>
                  <a:pt x="18288" y="18288"/>
                </a:cubicBezTo>
              </a:path>
            </a:pathLst>
          </a:custGeom>
          <a:noFill/>
          <a:ln w="158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43" name="Polaridade +"/>
          <p:cNvSpPr txBox="1"/>
          <p:nvPr/>
        </p:nvSpPr>
        <p:spPr>
          <a:xfrm>
            <a:off x="1528650" y="3293147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+</a:t>
            </a:r>
            <a:endParaRPr lang="en-US" sz="1300" dirty="0"/>
          </a:p>
        </p:txBody>
      </p:sp>
      <p:sp>
        <p:nvSpPr>
          <p:cNvPr id="44" name="Atraso 1"/>
          <p:cNvSpPr/>
          <p:nvPr/>
        </p:nvSpPr>
        <p:spPr>
          <a:xfrm>
            <a:off x="4240435" y="4494853"/>
            <a:ext cx="58122" cy="236587"/>
          </a:xfrm>
          <a:custGeom>
            <a:avLst/>
            <a:gdLst/>
            <a:ahLst/>
            <a:cxnLst/>
            <a:rect l="l" t="t" r="r" b="b"/>
            <a:pathLst>
              <a:path w="58122" h="236587">
                <a:moveTo>
                  <a:pt x="18288" y="218267"/>
                </a:moveTo>
                <a:lnTo>
                  <a:pt x="39868" y="18288"/>
                </a:lnTo>
              </a:path>
            </a:pathLst>
          </a:cu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45" name="Atraso 2"/>
          <p:cNvSpPr/>
          <p:nvPr/>
        </p:nvSpPr>
        <p:spPr>
          <a:xfrm>
            <a:off x="4176795" y="4487998"/>
            <a:ext cx="58122" cy="236587"/>
          </a:xfrm>
          <a:custGeom>
            <a:avLst/>
            <a:gdLst/>
            <a:ahLst/>
            <a:cxnLst/>
            <a:rect l="l" t="t" r="r" b="b"/>
            <a:pathLst>
              <a:path w="58122" h="236587">
                <a:moveTo>
                  <a:pt x="18288" y="218267"/>
                </a:moveTo>
                <a:lnTo>
                  <a:pt x="39868" y="18288"/>
                </a:lnTo>
              </a:path>
            </a:pathLst>
          </a:cu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46" name="Variável MM"/>
          <p:cNvSpPr txBox="1"/>
          <p:nvPr/>
        </p:nvSpPr>
        <p:spPr>
          <a:xfrm>
            <a:off x="132588" y="1289304"/>
            <a:ext cx="1563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chemeClr val="accent1"/>
                </a:solidFill>
              </a:rPr>
              <a:t>Mudanças de projeto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i="1" dirty="0">
                <a:solidFill>
                  <a:schemeClr val="accent1"/>
                </a:solidFill>
              </a:rPr>
              <a:t>da Marinha</a:t>
            </a:r>
            <a:endParaRPr lang="en-US" sz="1200" dirty="0"/>
          </a:p>
        </p:txBody>
      </p:sp>
      <p:sp>
        <p:nvSpPr>
          <p:cNvPr id="47" name="Variável WR"/>
          <p:cNvSpPr txBox="1"/>
          <p:nvPr/>
        </p:nvSpPr>
        <p:spPr>
          <a:xfrm>
            <a:off x="704088" y="2715768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Trabalho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remanescente</a:t>
            </a:r>
            <a:endParaRPr lang="en-US" sz="1200" dirty="0"/>
          </a:p>
        </p:txBody>
      </p:sp>
      <p:sp>
        <p:nvSpPr>
          <p:cNvPr id="48" name="Variável FT"/>
          <p:cNvSpPr txBox="1"/>
          <p:nvPr/>
        </p:nvSpPr>
        <p:spPr>
          <a:xfrm>
            <a:off x="2052828" y="1746504"/>
            <a:ext cx="923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Força de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trabalho</a:t>
            </a:r>
            <a:endParaRPr lang="en-US" sz="1200" dirty="0"/>
          </a:p>
        </p:txBody>
      </p:sp>
      <p:sp>
        <p:nvSpPr>
          <p:cNvPr id="49" name="Variável SP"/>
          <p:cNvSpPr txBox="1"/>
          <p:nvPr/>
        </p:nvSpPr>
        <p:spPr>
          <a:xfrm>
            <a:off x="3104388" y="2715768"/>
            <a:ext cx="11064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Pressão de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cronograma</a:t>
            </a:r>
            <a:endParaRPr lang="en-US" sz="1200" dirty="0"/>
          </a:p>
        </p:txBody>
      </p:sp>
      <p:sp>
        <p:nvSpPr>
          <p:cNvPr id="50" name="Variável HE"/>
          <p:cNvSpPr txBox="1"/>
          <p:nvPr/>
        </p:nvSpPr>
        <p:spPr>
          <a:xfrm>
            <a:off x="2121408" y="3813048"/>
            <a:ext cx="786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Horas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extras</a:t>
            </a:r>
            <a:endParaRPr lang="en-US" sz="1200" dirty="0"/>
          </a:p>
        </p:txBody>
      </p:sp>
      <p:sp>
        <p:nvSpPr>
          <p:cNvPr id="51" name="Variável CG"/>
          <p:cNvSpPr txBox="1"/>
          <p:nvPr/>
        </p:nvSpPr>
        <p:spPr>
          <a:xfrm>
            <a:off x="3835908" y="1307592"/>
            <a:ext cx="1472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Congestionamento</a:t>
            </a:r>
            <a:endParaRPr lang="en-US" sz="1200" dirty="0"/>
          </a:p>
        </p:txBody>
      </p:sp>
      <p:sp>
        <p:nvSpPr>
          <p:cNvPr id="52" name="Variável IN"/>
          <p:cNvSpPr txBox="1"/>
          <p:nvPr/>
        </p:nvSpPr>
        <p:spPr>
          <a:xfrm>
            <a:off x="4453128" y="2048256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Fração de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novatos</a:t>
            </a:r>
            <a:endParaRPr lang="en-US" sz="1200" dirty="0"/>
          </a:p>
        </p:txBody>
      </p:sp>
      <p:sp>
        <p:nvSpPr>
          <p:cNvPr id="53" name="Variável FS"/>
          <p:cNvSpPr txBox="1"/>
          <p:nvPr/>
        </p:nvSpPr>
        <p:spPr>
          <a:xfrm>
            <a:off x="4498848" y="3209544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Trabalho fora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de sequência</a:t>
            </a:r>
            <a:endParaRPr lang="en-US" sz="1200" dirty="0"/>
          </a:p>
        </p:txBody>
      </p:sp>
      <p:sp>
        <p:nvSpPr>
          <p:cNvPr id="54" name="Variável FD"/>
          <p:cNvSpPr txBox="1"/>
          <p:nvPr/>
        </p:nvSpPr>
        <p:spPr>
          <a:xfrm>
            <a:off x="4178808" y="3977640"/>
            <a:ext cx="694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Fadiga</a:t>
            </a:r>
            <a:endParaRPr lang="en-US" sz="1200" dirty="0"/>
          </a:p>
        </p:txBody>
      </p:sp>
      <p:sp>
        <p:nvSpPr>
          <p:cNvPr id="55" name="Variável PR"/>
          <p:cNvSpPr txBox="1"/>
          <p:nvPr/>
        </p:nvSpPr>
        <p:spPr>
          <a:xfrm>
            <a:off x="6487668" y="1490472"/>
            <a:ext cx="1197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Produtividade</a:t>
            </a:r>
            <a:endParaRPr lang="en-US" sz="1200" dirty="0"/>
          </a:p>
        </p:txBody>
      </p:sp>
      <p:sp>
        <p:nvSpPr>
          <p:cNvPr id="56" name="Variável RT"/>
          <p:cNvSpPr txBox="1"/>
          <p:nvPr/>
        </p:nvSpPr>
        <p:spPr>
          <a:xfrm>
            <a:off x="6579108" y="3758184"/>
            <a:ext cx="1014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Erros 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retrabalho</a:t>
            </a:r>
            <a:endParaRPr lang="en-US" sz="1200" dirty="0"/>
          </a:p>
        </p:txBody>
      </p:sp>
      <p:sp>
        <p:nvSpPr>
          <p:cNvPr id="57" name="Laço B1"/>
          <p:cNvSpPr/>
          <p:nvPr/>
        </p:nvSpPr>
        <p:spPr>
          <a:xfrm>
            <a:off x="2389335" y="2319073"/>
            <a:ext cx="433410" cy="369263"/>
          </a:xfrm>
          <a:custGeom>
            <a:avLst/>
            <a:gdLst/>
            <a:ahLst/>
            <a:cxnLst/>
            <a:rect l="l" t="t" r="r" b="b"/>
            <a:pathLst>
              <a:path w="433410" h="369263">
                <a:moveTo>
                  <a:pt x="111831" y="18288"/>
                </a:moveTo>
                <a:cubicBezTo>
                  <a:pt x="46452" y="64099"/>
                  <a:pt x="18288" y="146944"/>
                  <a:pt x="42245" y="223114"/>
                </a:cubicBezTo>
                <a:cubicBezTo>
                  <a:pt x="66294" y="299192"/>
                  <a:pt x="136886" y="350947"/>
                  <a:pt x="216713" y="350947"/>
                </a:cubicBezTo>
                <a:cubicBezTo>
                  <a:pt x="296540" y="350947"/>
                  <a:pt x="367132" y="299192"/>
                  <a:pt x="391089" y="223114"/>
                </a:cubicBezTo>
                <a:cubicBezTo>
                  <a:pt x="415138" y="146944"/>
                  <a:pt x="386974" y="64099"/>
                  <a:pt x="321594" y="18288"/>
                </a:cubicBezTo>
              </a:path>
            </a:pathLst>
          </a:custGeom>
          <a:noFill/>
          <a:ln w="2222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58" name="Rótulo laço B1"/>
          <p:cNvSpPr txBox="1"/>
          <p:nvPr/>
        </p:nvSpPr>
        <p:spPr>
          <a:xfrm>
            <a:off x="2423160" y="236829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B1</a:t>
            </a:r>
            <a:endParaRPr lang="en-US" sz="1000" dirty="0"/>
          </a:p>
        </p:txBody>
      </p:sp>
      <p:sp>
        <p:nvSpPr>
          <p:cNvPr id="59" name="Laço B2"/>
          <p:cNvSpPr/>
          <p:nvPr/>
        </p:nvSpPr>
        <p:spPr>
          <a:xfrm>
            <a:off x="2389335" y="3196897"/>
            <a:ext cx="433410" cy="369263"/>
          </a:xfrm>
          <a:custGeom>
            <a:avLst/>
            <a:gdLst/>
            <a:ahLst/>
            <a:cxnLst/>
            <a:rect l="l" t="t" r="r" b="b"/>
            <a:pathLst>
              <a:path w="433410" h="369263">
                <a:moveTo>
                  <a:pt x="321594" y="18288"/>
                </a:moveTo>
                <a:cubicBezTo>
                  <a:pt x="386974" y="64099"/>
                  <a:pt x="415138" y="146944"/>
                  <a:pt x="391089" y="223114"/>
                </a:cubicBezTo>
                <a:cubicBezTo>
                  <a:pt x="367132" y="299192"/>
                  <a:pt x="296540" y="350947"/>
                  <a:pt x="216713" y="350947"/>
                </a:cubicBezTo>
                <a:cubicBezTo>
                  <a:pt x="136886" y="350947"/>
                  <a:pt x="66294" y="299192"/>
                  <a:pt x="42245" y="223114"/>
                </a:cubicBezTo>
                <a:cubicBezTo>
                  <a:pt x="18288" y="146944"/>
                  <a:pt x="46452" y="64099"/>
                  <a:pt x="111831" y="18288"/>
                </a:cubicBezTo>
              </a:path>
            </a:pathLst>
          </a:custGeom>
          <a:noFill/>
          <a:ln w="2222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60" name="Rótulo laço B2"/>
          <p:cNvSpPr txBox="1"/>
          <p:nvPr/>
        </p:nvSpPr>
        <p:spPr>
          <a:xfrm>
            <a:off x="2423160" y="324612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B2</a:t>
            </a:r>
            <a:endParaRPr lang="en-US" sz="1000" dirty="0"/>
          </a:p>
        </p:txBody>
      </p:sp>
      <p:sp>
        <p:nvSpPr>
          <p:cNvPr id="61" name="Laço R1"/>
          <p:cNvSpPr/>
          <p:nvPr/>
        </p:nvSpPr>
        <p:spPr>
          <a:xfrm>
            <a:off x="3852375" y="1633273"/>
            <a:ext cx="433410" cy="369263"/>
          </a:xfrm>
          <a:custGeom>
            <a:avLst/>
            <a:gdLst/>
            <a:ahLst/>
            <a:cxnLst/>
            <a:rect l="l" t="t" r="r" b="b"/>
            <a:pathLst>
              <a:path w="433410" h="369263">
                <a:moveTo>
                  <a:pt x="111831" y="18288"/>
                </a:moveTo>
                <a:cubicBezTo>
                  <a:pt x="46452" y="64099"/>
                  <a:pt x="18288" y="146944"/>
                  <a:pt x="42245" y="223114"/>
                </a:cubicBezTo>
                <a:cubicBezTo>
                  <a:pt x="66294" y="299192"/>
                  <a:pt x="136886" y="350947"/>
                  <a:pt x="216713" y="350947"/>
                </a:cubicBezTo>
                <a:cubicBezTo>
                  <a:pt x="296540" y="350947"/>
                  <a:pt x="367132" y="299192"/>
                  <a:pt x="391089" y="223114"/>
                </a:cubicBezTo>
                <a:cubicBezTo>
                  <a:pt x="415138" y="146944"/>
                  <a:pt x="386974" y="64099"/>
                  <a:pt x="321594" y="18288"/>
                </a:cubicBezTo>
              </a:path>
            </a:pathLst>
          </a:cu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62" name="Rótulo laço R1"/>
          <p:cNvSpPr txBox="1"/>
          <p:nvPr/>
        </p:nvSpPr>
        <p:spPr>
          <a:xfrm>
            <a:off x="3886200" y="168249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R1</a:t>
            </a:r>
            <a:endParaRPr lang="en-US" sz="1000" dirty="0"/>
          </a:p>
        </p:txBody>
      </p:sp>
      <p:sp>
        <p:nvSpPr>
          <p:cNvPr id="63" name="Laço R2"/>
          <p:cNvSpPr/>
          <p:nvPr/>
        </p:nvSpPr>
        <p:spPr>
          <a:xfrm>
            <a:off x="4309575" y="2556817"/>
            <a:ext cx="433410" cy="369263"/>
          </a:xfrm>
          <a:custGeom>
            <a:avLst/>
            <a:gdLst/>
            <a:ahLst/>
            <a:cxnLst/>
            <a:rect l="l" t="t" r="r" b="b"/>
            <a:pathLst>
              <a:path w="433410" h="369263">
                <a:moveTo>
                  <a:pt x="321594" y="18288"/>
                </a:moveTo>
                <a:cubicBezTo>
                  <a:pt x="386974" y="64099"/>
                  <a:pt x="415138" y="146944"/>
                  <a:pt x="391089" y="223114"/>
                </a:cubicBezTo>
                <a:cubicBezTo>
                  <a:pt x="367132" y="299192"/>
                  <a:pt x="296540" y="350947"/>
                  <a:pt x="216713" y="350947"/>
                </a:cubicBezTo>
                <a:cubicBezTo>
                  <a:pt x="136886" y="350947"/>
                  <a:pt x="66294" y="299192"/>
                  <a:pt x="42245" y="223114"/>
                </a:cubicBezTo>
                <a:cubicBezTo>
                  <a:pt x="18288" y="146944"/>
                  <a:pt x="46452" y="64099"/>
                  <a:pt x="111831" y="18288"/>
                </a:cubicBezTo>
              </a:path>
            </a:pathLst>
          </a:cu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64" name="Rótulo laço R2"/>
          <p:cNvSpPr txBox="1"/>
          <p:nvPr/>
        </p:nvSpPr>
        <p:spPr>
          <a:xfrm>
            <a:off x="4343400" y="260604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R2</a:t>
            </a:r>
            <a:endParaRPr lang="en-US" sz="1000" dirty="0"/>
          </a:p>
        </p:txBody>
      </p:sp>
      <p:sp>
        <p:nvSpPr>
          <p:cNvPr id="65" name="Laço R3"/>
          <p:cNvSpPr/>
          <p:nvPr/>
        </p:nvSpPr>
        <p:spPr>
          <a:xfrm>
            <a:off x="5726895" y="3123745"/>
            <a:ext cx="433410" cy="369263"/>
          </a:xfrm>
          <a:custGeom>
            <a:avLst/>
            <a:gdLst/>
            <a:ahLst/>
            <a:cxnLst/>
            <a:rect l="l" t="t" r="r" b="b"/>
            <a:pathLst>
              <a:path w="433410" h="369263">
                <a:moveTo>
                  <a:pt x="321594" y="18288"/>
                </a:moveTo>
                <a:cubicBezTo>
                  <a:pt x="386974" y="64099"/>
                  <a:pt x="415138" y="146944"/>
                  <a:pt x="391089" y="223114"/>
                </a:cubicBezTo>
                <a:cubicBezTo>
                  <a:pt x="367132" y="299192"/>
                  <a:pt x="296540" y="350947"/>
                  <a:pt x="216713" y="350947"/>
                </a:cubicBezTo>
                <a:cubicBezTo>
                  <a:pt x="136886" y="350947"/>
                  <a:pt x="66294" y="299192"/>
                  <a:pt x="42245" y="223114"/>
                </a:cubicBezTo>
                <a:cubicBezTo>
                  <a:pt x="18288" y="146944"/>
                  <a:pt x="46452" y="64099"/>
                  <a:pt x="111831" y="18288"/>
                </a:cubicBezTo>
              </a:path>
            </a:pathLst>
          </a:cu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66" name="Rótulo laço R3"/>
          <p:cNvSpPr txBox="1"/>
          <p:nvPr/>
        </p:nvSpPr>
        <p:spPr>
          <a:xfrm>
            <a:off x="5760720" y="317296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R3</a:t>
            </a:r>
            <a:endParaRPr lang="en-US" sz="1000" dirty="0"/>
          </a:p>
        </p:txBody>
      </p:sp>
      <p:sp>
        <p:nvSpPr>
          <p:cNvPr id="67" name="Laço R4"/>
          <p:cNvSpPr/>
          <p:nvPr/>
        </p:nvSpPr>
        <p:spPr>
          <a:xfrm>
            <a:off x="3578055" y="4221025"/>
            <a:ext cx="433410" cy="369263"/>
          </a:xfrm>
          <a:custGeom>
            <a:avLst/>
            <a:gdLst/>
            <a:ahLst/>
            <a:cxnLst/>
            <a:rect l="l" t="t" r="r" b="b"/>
            <a:pathLst>
              <a:path w="433410" h="369263">
                <a:moveTo>
                  <a:pt x="321594" y="18288"/>
                </a:moveTo>
                <a:cubicBezTo>
                  <a:pt x="386974" y="64099"/>
                  <a:pt x="415138" y="146944"/>
                  <a:pt x="391089" y="223114"/>
                </a:cubicBezTo>
                <a:cubicBezTo>
                  <a:pt x="367132" y="299192"/>
                  <a:pt x="296540" y="350947"/>
                  <a:pt x="216713" y="350947"/>
                </a:cubicBezTo>
                <a:cubicBezTo>
                  <a:pt x="136886" y="350947"/>
                  <a:pt x="66294" y="299192"/>
                  <a:pt x="42245" y="223114"/>
                </a:cubicBezTo>
                <a:cubicBezTo>
                  <a:pt x="18288" y="146944"/>
                  <a:pt x="46452" y="64099"/>
                  <a:pt x="111831" y="18288"/>
                </a:cubicBezTo>
              </a:path>
            </a:pathLst>
          </a:cu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68" name="Rótulo laço R4"/>
          <p:cNvSpPr txBox="1"/>
          <p:nvPr/>
        </p:nvSpPr>
        <p:spPr>
          <a:xfrm>
            <a:off x="3611880" y="427024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R4</a:t>
            </a:r>
            <a:endParaRPr lang="en-US" sz="1000" dirty="0"/>
          </a:p>
        </p:txBody>
      </p:sp>
      <p:sp>
        <p:nvSpPr>
          <p:cNvPr id="69" name="Legenda"/>
          <p:cNvSpPr txBox="1"/>
          <p:nvPr/>
        </p:nvSpPr>
        <p:spPr>
          <a:xfrm>
            <a:off x="7818120" y="23317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chemeClr val="accent2"/>
                </a:solidFill>
              </a:rPr>
              <a:t>B</a:t>
            </a:r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accent4"/>
                </a:solidFill>
              </a:rPr>
              <a:t>  equilíbrio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chemeClr val="accent1"/>
                </a:solidFill>
              </a:rPr>
              <a:t>R</a:t>
            </a:r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accent4"/>
                </a:solidFill>
              </a:rPr>
              <a:t>  reforço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chemeClr val="tx2"/>
                </a:solidFill>
              </a:rPr>
              <a:t>||</a:t>
            </a:r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accent4"/>
                </a:solidFill>
              </a:rPr>
              <a:t>  atraso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(iii)  A MODELAGEM IMPLEMENTADA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Como o modelo foi construído e usado</a:t>
            </a:r>
            <a:endParaRPr lang="en-US" sz="2600" dirty="0"/>
          </a:p>
        </p:txBody>
      </p:sp>
      <p:sp>
        <p:nvSpPr>
          <p:cNvPr id="4" name="Progresso i"/>
          <p:cNvSpPr txBox="1"/>
          <p:nvPr/>
        </p:nvSpPr>
        <p:spPr>
          <a:xfrm>
            <a:off x="6720840" y="274320"/>
            <a:ext cx="274320" cy="274320"/>
          </a:xfrm>
          <a:prstGeom prst="ellipse">
            <a:avLst/>
          </a:prstGeom>
          <a:noFill/>
          <a:ln w="9525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i</a:t>
            </a:r>
            <a:endParaRPr lang="en-US" sz="1000" dirty="0"/>
          </a:p>
        </p:txBody>
      </p:sp>
      <p:sp>
        <p:nvSpPr>
          <p:cNvPr id="5" name="Progresso ii"/>
          <p:cNvSpPr txBox="1"/>
          <p:nvPr/>
        </p:nvSpPr>
        <p:spPr>
          <a:xfrm>
            <a:off x="7059168" y="274320"/>
            <a:ext cx="274320" cy="274320"/>
          </a:xfrm>
          <a:prstGeom prst="ellipse">
            <a:avLst/>
          </a:prstGeom>
          <a:noFill/>
          <a:ln w="9525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ii</a:t>
            </a:r>
            <a:endParaRPr lang="en-US" sz="1000" dirty="0"/>
          </a:p>
        </p:txBody>
      </p:sp>
      <p:sp>
        <p:nvSpPr>
          <p:cNvPr id="6" name="Progresso iii"/>
          <p:cNvSpPr txBox="1"/>
          <p:nvPr/>
        </p:nvSpPr>
        <p:spPr>
          <a:xfrm>
            <a:off x="7397496" y="274320"/>
            <a:ext cx="274320" cy="27432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iii</a:t>
            </a:r>
            <a:endParaRPr lang="en-US" sz="1000" dirty="0"/>
          </a:p>
        </p:txBody>
      </p:sp>
      <p:sp>
        <p:nvSpPr>
          <p:cNvPr id="7" name="Progresso iv"/>
          <p:cNvSpPr txBox="1"/>
          <p:nvPr/>
        </p:nvSpPr>
        <p:spPr>
          <a:xfrm>
            <a:off x="7735824" y="274320"/>
            <a:ext cx="274320" cy="274320"/>
          </a:xfrm>
          <a:prstGeom prst="ellipse">
            <a:avLst/>
          </a:prstGeom>
          <a:noFill/>
          <a:ln w="9525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iv</a:t>
            </a:r>
            <a:endParaRPr lang="en-US" sz="1000" dirty="0"/>
          </a:p>
        </p:txBody>
      </p:sp>
      <p:sp>
        <p:nvSpPr>
          <p:cNvPr id="8" name="Progresso v"/>
          <p:cNvSpPr txBox="1"/>
          <p:nvPr/>
        </p:nvSpPr>
        <p:spPr>
          <a:xfrm>
            <a:off x="8074152" y="274320"/>
            <a:ext cx="274320" cy="274320"/>
          </a:xfrm>
          <a:prstGeom prst="ellipse">
            <a:avLst/>
          </a:prstGeom>
          <a:noFill/>
          <a:ln w="9525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v</a:t>
            </a:r>
            <a:endParaRPr lang="en-US" sz="1000" dirty="0"/>
          </a:p>
        </p:txBody>
      </p:sp>
      <p:sp>
        <p:nvSpPr>
          <p:cNvPr id="9" name="Progresso vi"/>
          <p:cNvSpPr txBox="1"/>
          <p:nvPr/>
        </p:nvSpPr>
        <p:spPr>
          <a:xfrm>
            <a:off x="8412480" y="274320"/>
            <a:ext cx="274320" cy="274320"/>
          </a:xfrm>
          <a:prstGeom prst="ellipse">
            <a:avLst/>
          </a:prstGeom>
          <a:noFill/>
          <a:ln w="9525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vi</a:t>
            </a:r>
            <a:endParaRPr lang="en-US" sz="1000" dirty="0"/>
          </a:p>
        </p:txBody>
      </p:sp>
      <p:sp>
        <p:nvSpPr>
          <p:cNvPr id="10" name="Conector etapas"/>
          <p:cNvSpPr/>
          <p:nvPr/>
        </p:nvSpPr>
        <p:spPr>
          <a:xfrm>
            <a:off x="1197864" y="1627632"/>
            <a:ext cx="6748272" cy="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</a:ln>
        </p:spPr>
      </p:sp>
      <p:sp>
        <p:nvSpPr>
          <p:cNvPr id="11" name="Etapa 1"/>
          <p:cNvSpPr txBox="1"/>
          <p:nvPr/>
        </p:nvSpPr>
        <p:spPr>
          <a:xfrm>
            <a:off x="941832" y="1371600"/>
            <a:ext cx="512064" cy="512064"/>
          </a:xfrm>
          <a:prstGeom prst="ellipse">
            <a:avLst/>
          </a:prstGeom>
          <a:solidFill>
            <a:schemeClr val="tx2"/>
          </a:solidFill>
          <a:ln w="254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1993392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Diagnóstico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2304288"/>
            <a:ext cx="1481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Entrevistas com gerentes e engenheiros; dados dos dois programas.</a:t>
            </a:r>
            <a:endParaRPr lang="en-US" sz="1200" dirty="0"/>
          </a:p>
        </p:txBody>
      </p:sp>
      <p:sp>
        <p:nvSpPr>
          <p:cNvPr id="14" name="Etapa 2"/>
          <p:cNvSpPr txBox="1"/>
          <p:nvPr/>
        </p:nvSpPr>
        <p:spPr>
          <a:xfrm>
            <a:off x="2628900" y="1371600"/>
            <a:ext cx="512064" cy="512064"/>
          </a:xfrm>
          <a:prstGeom prst="ellipse">
            <a:avLst/>
          </a:prstGeom>
          <a:solidFill>
            <a:schemeClr val="tx2"/>
          </a:solidFill>
          <a:ln w="254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2144268" y="1993392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Estrutura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2144268" y="2304288"/>
            <a:ext cx="1481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Ciclo de retrabalho + mão de obra, treinamento, horas extras, produtividade e qualidade.</a:t>
            </a:r>
            <a:endParaRPr lang="en-US" sz="1200" dirty="0"/>
          </a:p>
        </p:txBody>
      </p:sp>
      <p:sp>
        <p:nvSpPr>
          <p:cNvPr id="17" name="Etapa 3"/>
          <p:cNvSpPr txBox="1"/>
          <p:nvPr/>
        </p:nvSpPr>
        <p:spPr>
          <a:xfrm>
            <a:off x="4315968" y="1371600"/>
            <a:ext cx="512064" cy="512064"/>
          </a:xfrm>
          <a:prstGeom prst="ellipse">
            <a:avLst/>
          </a:prstGeom>
          <a:solidFill>
            <a:schemeClr val="tx2"/>
          </a:solidFill>
          <a:ln w="254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3831336" y="1993392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Calibração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831336" y="2304288"/>
            <a:ext cx="1481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 modelo reproduz o histórico real de pessoal, progresso e custos.</a:t>
            </a:r>
            <a:endParaRPr lang="en-US" sz="1200" dirty="0"/>
          </a:p>
        </p:txBody>
      </p:sp>
      <p:sp>
        <p:nvSpPr>
          <p:cNvPr id="20" name="Etapa 4"/>
          <p:cNvSpPr txBox="1"/>
          <p:nvPr/>
        </p:nvSpPr>
        <p:spPr>
          <a:xfrm>
            <a:off x="6003036" y="1371600"/>
            <a:ext cx="512064" cy="512064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5518404" y="1993392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Contrafactual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518404" y="2304288"/>
            <a:ext cx="1481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Simula os mesmos programas sem as mudanças da Marinha.</a:t>
            </a:r>
            <a:endParaRPr lang="en-US" sz="1200" dirty="0"/>
          </a:p>
        </p:txBody>
      </p:sp>
      <p:sp>
        <p:nvSpPr>
          <p:cNvPr id="23" name="Etapa 5"/>
          <p:cNvSpPr txBox="1"/>
          <p:nvPr/>
        </p:nvSpPr>
        <p:spPr>
          <a:xfrm>
            <a:off x="7690104" y="1371600"/>
            <a:ext cx="512064" cy="512064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7205472" y="1993392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Atribuição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205472" y="2304288"/>
            <a:ext cx="1481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 diferença entre as simulações é o custo de atraso e ruptura.</a:t>
            </a:r>
            <a:endParaRPr lang="en-US" sz="1200" dirty="0"/>
          </a:p>
        </p:txBody>
      </p:sp>
      <p:sp>
        <p:nvSpPr>
          <p:cNvPr id="26" name="Faixa atribuição"/>
          <p:cNvSpPr/>
          <p:nvPr/>
        </p:nvSpPr>
        <p:spPr>
          <a:xfrm>
            <a:off x="457200" y="3429000"/>
            <a:ext cx="822960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85800" y="3730752"/>
            <a:ext cx="1874520" cy="603504"/>
          </a:xfrm>
          <a:prstGeom prst="roundRect">
            <a:avLst>
              <a:gd name="adj" fmla="val 9091"/>
            </a:avLst>
          </a:prstGeom>
          <a:solidFill>
            <a:schemeClr val="accent1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Custo de atraso e ruptura da Marinha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2606040" y="3730752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=</a:t>
            </a:r>
            <a:endParaRPr lang="en-US" sz="2400" dirty="0"/>
          </a:p>
        </p:txBody>
      </p:sp>
      <p:sp>
        <p:nvSpPr>
          <p:cNvPr id="29" name="Text 27"/>
          <p:cNvSpPr txBox="1"/>
          <p:nvPr/>
        </p:nvSpPr>
        <p:spPr>
          <a:xfrm>
            <a:off x="2971800" y="3730752"/>
            <a:ext cx="1645920" cy="603504"/>
          </a:xfrm>
          <a:prstGeom prst="roundRect">
            <a:avLst>
              <a:gd name="adj" fmla="val 9091"/>
            </a:avLst>
          </a:prstGeom>
          <a:solidFill>
            <a:schemeClr val="tx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Simulação COM as mudanças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4617720" y="3730752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−</a:t>
            </a:r>
            <a:endParaRPr lang="en-US" sz="2400" dirty="0"/>
          </a:p>
        </p:txBody>
      </p:sp>
      <p:sp>
        <p:nvSpPr>
          <p:cNvPr id="31" name="Text 29"/>
          <p:cNvSpPr txBox="1"/>
          <p:nvPr/>
        </p:nvSpPr>
        <p:spPr>
          <a:xfrm>
            <a:off x="4983480" y="3730752"/>
            <a:ext cx="1645920" cy="603504"/>
          </a:xfrm>
          <a:prstGeom prst="roundRect">
            <a:avLst>
              <a:gd name="adj" fmla="val 9091"/>
            </a:avLst>
          </a:prstGeom>
          <a:solidFill>
            <a:schemeClr val="bg1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Simulação SEM as mudanças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812280" y="361188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Premissas explícitas: o modelo podia ser examinado e questionado pelas duas partes — uma “caixa aberta”.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(iv)  OS RESULTADOS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O modelo transformou um efeito invisível em evidência</a:t>
            </a:r>
            <a:endParaRPr lang="en-US" sz="2600" dirty="0"/>
          </a:p>
        </p:txBody>
      </p:sp>
      <p:sp>
        <p:nvSpPr>
          <p:cNvPr id="4" name="Progresso i"/>
          <p:cNvSpPr txBox="1"/>
          <p:nvPr/>
        </p:nvSpPr>
        <p:spPr>
          <a:xfrm>
            <a:off x="6720840" y="274320"/>
            <a:ext cx="274320" cy="274320"/>
          </a:xfrm>
          <a:prstGeom prst="ellipse">
            <a:avLst/>
          </a:prstGeom>
          <a:noFill/>
          <a:ln w="9525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i</a:t>
            </a:r>
            <a:endParaRPr lang="en-US" sz="1000" dirty="0"/>
          </a:p>
        </p:txBody>
      </p:sp>
      <p:sp>
        <p:nvSpPr>
          <p:cNvPr id="5" name="Progresso ii"/>
          <p:cNvSpPr txBox="1"/>
          <p:nvPr/>
        </p:nvSpPr>
        <p:spPr>
          <a:xfrm>
            <a:off x="7059168" y="274320"/>
            <a:ext cx="274320" cy="274320"/>
          </a:xfrm>
          <a:prstGeom prst="ellipse">
            <a:avLst/>
          </a:prstGeom>
          <a:noFill/>
          <a:ln w="9525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ii</a:t>
            </a:r>
            <a:endParaRPr lang="en-US" sz="1000" dirty="0"/>
          </a:p>
        </p:txBody>
      </p:sp>
      <p:sp>
        <p:nvSpPr>
          <p:cNvPr id="6" name="Progresso iii"/>
          <p:cNvSpPr txBox="1"/>
          <p:nvPr/>
        </p:nvSpPr>
        <p:spPr>
          <a:xfrm>
            <a:off x="7397496" y="274320"/>
            <a:ext cx="274320" cy="274320"/>
          </a:xfrm>
          <a:prstGeom prst="ellipse">
            <a:avLst/>
          </a:prstGeom>
          <a:noFill/>
          <a:ln w="9525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iii</a:t>
            </a:r>
            <a:endParaRPr lang="en-US" sz="1000" dirty="0"/>
          </a:p>
        </p:txBody>
      </p:sp>
      <p:sp>
        <p:nvSpPr>
          <p:cNvPr id="7" name="Progresso iv"/>
          <p:cNvSpPr txBox="1"/>
          <p:nvPr/>
        </p:nvSpPr>
        <p:spPr>
          <a:xfrm>
            <a:off x="7735824" y="274320"/>
            <a:ext cx="274320" cy="27432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iv</a:t>
            </a:r>
            <a:endParaRPr lang="en-US" sz="1000" dirty="0"/>
          </a:p>
        </p:txBody>
      </p:sp>
      <p:sp>
        <p:nvSpPr>
          <p:cNvPr id="8" name="Progresso v"/>
          <p:cNvSpPr txBox="1"/>
          <p:nvPr/>
        </p:nvSpPr>
        <p:spPr>
          <a:xfrm>
            <a:off x="8074152" y="274320"/>
            <a:ext cx="274320" cy="274320"/>
          </a:xfrm>
          <a:prstGeom prst="ellipse">
            <a:avLst/>
          </a:prstGeom>
          <a:noFill/>
          <a:ln w="9525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v</a:t>
            </a:r>
            <a:endParaRPr lang="en-US" sz="1000" dirty="0"/>
          </a:p>
        </p:txBody>
      </p:sp>
      <p:sp>
        <p:nvSpPr>
          <p:cNvPr id="9" name="Progresso vi"/>
          <p:cNvSpPr txBox="1"/>
          <p:nvPr/>
        </p:nvSpPr>
        <p:spPr>
          <a:xfrm>
            <a:off x="8412480" y="274320"/>
            <a:ext cx="274320" cy="274320"/>
          </a:xfrm>
          <a:prstGeom prst="ellipse">
            <a:avLst/>
          </a:prstGeom>
          <a:noFill/>
          <a:ln w="9525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vi</a:t>
            </a:r>
            <a:endParaRPr lang="en-US" sz="1000" dirty="0"/>
          </a:p>
        </p:txBody>
      </p:sp>
      <p:sp>
        <p:nvSpPr>
          <p:cNvPr id="10" name="Painel números"/>
          <p:cNvSpPr/>
          <p:nvPr/>
        </p:nvSpPr>
        <p:spPr>
          <a:xfrm>
            <a:off x="457200" y="1325880"/>
            <a:ext cx="3383280" cy="3291840"/>
          </a:xfrm>
          <a:prstGeom prst="roundRect">
            <a:avLst>
              <a:gd name="adj" fmla="val 2222"/>
            </a:avLst>
          </a:prstGeom>
          <a:solidFill>
            <a:schemeClr val="tx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155448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US$ 447 mi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22402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acordo extrajudicial entre a Marinha e a Ingalls/Litton (1978)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29718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≈ US$ 500 mi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35204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reivindicados — perto de 90% do valor foi reconhecido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420624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bg2"/>
                </a:solidFill>
              </a:rPr>
              <a:t>Fontes: Sterman (2000, §2.3); Cooper (1980)</a:t>
            </a:r>
            <a:endParaRPr lang="en-US" sz="1000" dirty="0"/>
          </a:p>
        </p:txBody>
      </p:sp>
      <p:sp>
        <p:nvSpPr>
          <p:cNvPr id="16" name="Ícone Responsabilidades separadas"/>
          <p:cNvSpPr/>
          <p:nvPr/>
        </p:nvSpPr>
        <p:spPr>
          <a:xfrm>
            <a:off x="4206240" y="137160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7" name="Image 0" descr="Responsabilidades separad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29684" y="1495044"/>
            <a:ext cx="256032" cy="256032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4892040" y="138988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Responsabilidades separadas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4892040" y="1700784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 simulação distinguiu os custos causados pelas mudanças da Marinha dos custos ligados às decisões do próprio estaleiro.</a:t>
            </a:r>
            <a:endParaRPr lang="en-US" sz="1300" dirty="0"/>
          </a:p>
        </p:txBody>
      </p:sp>
      <p:sp>
        <p:nvSpPr>
          <p:cNvPr id="20" name="Ícone Efeito-cascata quantificado"/>
          <p:cNvSpPr/>
          <p:nvPr/>
        </p:nvSpPr>
        <p:spPr>
          <a:xfrm>
            <a:off x="4206240" y="24688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Image 1" descr="Efeito-cascata quantificad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9684" y="2592324"/>
            <a:ext cx="256032" cy="256032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4892040" y="248716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Efeito-cascata quantificado</a:t>
            </a:r>
            <a:endParaRPr lang="en-US" sz="1500" dirty="0"/>
          </a:p>
        </p:txBody>
      </p:sp>
      <p:sp>
        <p:nvSpPr>
          <p:cNvPr id="23" name="Text 19"/>
          <p:cNvSpPr txBox="1"/>
          <p:nvPr/>
        </p:nvSpPr>
        <p:spPr>
          <a:xfrm>
            <a:off x="4892040" y="2798064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Os custos de atraso e ruptura, antes considerados impossíveis de provar, ganharam uma estimativa defensável.</a:t>
            </a:r>
            <a:endParaRPr lang="en-US" sz="1300" dirty="0"/>
          </a:p>
        </p:txBody>
      </p:sp>
      <p:sp>
        <p:nvSpPr>
          <p:cNvPr id="24" name="Ícone Legado gerencial"/>
          <p:cNvSpPr/>
          <p:nvPr/>
        </p:nvSpPr>
        <p:spPr>
          <a:xfrm>
            <a:off x="4206240" y="356616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5" name="Image 2" descr="Legado gerencia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9684" y="3689604"/>
            <a:ext cx="256032" cy="256032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4892040" y="358444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Legado gerencial</a:t>
            </a:r>
            <a:endParaRPr lang="en-US" sz="1500" dirty="0"/>
          </a:p>
        </p:txBody>
      </p:sp>
      <p:sp>
        <p:nvSpPr>
          <p:cNvPr id="27" name="Text 22"/>
          <p:cNvSpPr txBox="1"/>
          <p:nvPr/>
        </p:nvSpPr>
        <p:spPr>
          <a:xfrm>
            <a:off x="4892040" y="3895344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 modelo virou ferramenta de gestão na Ingalls, e a abordagem foi levada a muitos outros projetos complexos.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(iv)  OS RESULTADOS · SIMULAÇÃO ILUSTRATIVA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Simulação: o efeito-cascata custa 2,1× o custo direto</a:t>
            </a:r>
            <a:endParaRPr lang="en-US" sz="2600" dirty="0"/>
          </a:p>
        </p:txBody>
      </p:sp>
      <p:sp>
        <p:nvSpPr>
          <p:cNvPr id="4" name="Progresso i"/>
          <p:cNvSpPr txBox="1"/>
          <p:nvPr/>
        </p:nvSpPr>
        <p:spPr>
          <a:xfrm>
            <a:off x="6720840" y="274320"/>
            <a:ext cx="274320" cy="274320"/>
          </a:xfrm>
          <a:prstGeom prst="ellipse">
            <a:avLst/>
          </a:prstGeom>
          <a:noFill/>
          <a:ln w="9525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i</a:t>
            </a:r>
            <a:endParaRPr lang="en-US" sz="1000" dirty="0"/>
          </a:p>
        </p:txBody>
      </p:sp>
      <p:sp>
        <p:nvSpPr>
          <p:cNvPr id="5" name="Progresso ii"/>
          <p:cNvSpPr txBox="1"/>
          <p:nvPr/>
        </p:nvSpPr>
        <p:spPr>
          <a:xfrm>
            <a:off x="7059168" y="274320"/>
            <a:ext cx="274320" cy="274320"/>
          </a:xfrm>
          <a:prstGeom prst="ellipse">
            <a:avLst/>
          </a:prstGeom>
          <a:noFill/>
          <a:ln w="9525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ii</a:t>
            </a:r>
            <a:endParaRPr lang="en-US" sz="1000" dirty="0"/>
          </a:p>
        </p:txBody>
      </p:sp>
      <p:sp>
        <p:nvSpPr>
          <p:cNvPr id="6" name="Progresso iii"/>
          <p:cNvSpPr txBox="1"/>
          <p:nvPr/>
        </p:nvSpPr>
        <p:spPr>
          <a:xfrm>
            <a:off x="7397496" y="274320"/>
            <a:ext cx="274320" cy="274320"/>
          </a:xfrm>
          <a:prstGeom prst="ellipse">
            <a:avLst/>
          </a:prstGeom>
          <a:noFill/>
          <a:ln w="9525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iii</a:t>
            </a:r>
            <a:endParaRPr lang="en-US" sz="1000" dirty="0"/>
          </a:p>
        </p:txBody>
      </p:sp>
      <p:sp>
        <p:nvSpPr>
          <p:cNvPr id="7" name="Progresso iv"/>
          <p:cNvSpPr txBox="1"/>
          <p:nvPr/>
        </p:nvSpPr>
        <p:spPr>
          <a:xfrm>
            <a:off x="7735824" y="274320"/>
            <a:ext cx="274320" cy="27432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iv</a:t>
            </a:r>
            <a:endParaRPr lang="en-US" sz="1000" dirty="0"/>
          </a:p>
        </p:txBody>
      </p:sp>
      <p:sp>
        <p:nvSpPr>
          <p:cNvPr id="8" name="Progresso v"/>
          <p:cNvSpPr txBox="1"/>
          <p:nvPr/>
        </p:nvSpPr>
        <p:spPr>
          <a:xfrm>
            <a:off x="8074152" y="274320"/>
            <a:ext cx="274320" cy="274320"/>
          </a:xfrm>
          <a:prstGeom prst="ellipse">
            <a:avLst/>
          </a:prstGeom>
          <a:noFill/>
          <a:ln w="9525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v</a:t>
            </a:r>
            <a:endParaRPr lang="en-US" sz="1000" dirty="0"/>
          </a:p>
        </p:txBody>
      </p:sp>
      <p:sp>
        <p:nvSpPr>
          <p:cNvPr id="9" name="Progresso vi"/>
          <p:cNvSpPr txBox="1"/>
          <p:nvPr/>
        </p:nvSpPr>
        <p:spPr>
          <a:xfrm>
            <a:off x="8412480" y="274320"/>
            <a:ext cx="274320" cy="274320"/>
          </a:xfrm>
          <a:prstGeom prst="ellipse">
            <a:avLst/>
          </a:prstGeom>
          <a:noFill/>
          <a:ln w="9525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vi</a:t>
            </a:r>
            <a:endParaRPr lang="en-US" sz="1000" dirty="0"/>
          </a:p>
        </p:txBody>
      </p:sp>
      <p:graphicFrame>
        <p:nvGraphicFramePr>
          <p:cNvPr id="10" name="Gráfico progresso" descr=""/>
          <p:cNvGraphicFramePr/>
          <p:nvPr/>
        </p:nvGraphicFramePr>
        <p:xfrm>
          <a:off x="365760" y="1234440"/>
          <a:ext cx="420624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1" name="Gráfico força de trabalho" descr=""/>
          <p:cNvGraphicFramePr/>
          <p:nvPr/>
        </p:nvGraphicFramePr>
        <p:xfrm>
          <a:off x="4572000" y="1234440"/>
          <a:ext cx="420624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Indicador 1"/>
          <p:cNvSpPr/>
          <p:nvPr/>
        </p:nvSpPr>
        <p:spPr>
          <a:xfrm>
            <a:off x="457200" y="3703320"/>
            <a:ext cx="2606040" cy="749808"/>
          </a:xfrm>
          <a:prstGeom prst="roundRect">
            <a:avLst>
              <a:gd name="adj" fmla="val 7317"/>
            </a:avLst>
          </a:prstGeom>
          <a:solidFill>
            <a:schemeClr val="bg2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594360" y="3749040"/>
            <a:ext cx="1143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+6 meses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1737360" y="3749040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de atraso: término no mês 51 contra 45 (prazo: 36)</a:t>
            </a:r>
            <a:endParaRPr lang="en-US" sz="1000" dirty="0"/>
          </a:p>
        </p:txBody>
      </p:sp>
      <p:sp>
        <p:nvSpPr>
          <p:cNvPr id="15" name="Indicador 2"/>
          <p:cNvSpPr/>
          <p:nvPr/>
        </p:nvSpPr>
        <p:spPr>
          <a:xfrm>
            <a:off x="3246120" y="3703320"/>
            <a:ext cx="2606040" cy="749808"/>
          </a:xfrm>
          <a:prstGeom prst="roundRect">
            <a:avLst>
              <a:gd name="adj" fmla="val 7317"/>
            </a:avLst>
          </a:prstGeom>
          <a:solidFill>
            <a:schemeClr val="bg2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3383280" y="3749040"/>
            <a:ext cx="1143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200 p-m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4526280" y="3749040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custo direto: refazer só o que a Marinha mudou (pessoas-mês)</a:t>
            </a:r>
            <a:endParaRPr lang="en-US" sz="1000" dirty="0"/>
          </a:p>
        </p:txBody>
      </p:sp>
      <p:sp>
        <p:nvSpPr>
          <p:cNvPr id="18" name="Indicador 3"/>
          <p:cNvSpPr/>
          <p:nvPr/>
        </p:nvSpPr>
        <p:spPr>
          <a:xfrm>
            <a:off x="6035040" y="3703320"/>
            <a:ext cx="2606040" cy="749808"/>
          </a:xfrm>
          <a:prstGeom prst="roundRect">
            <a:avLst>
              <a:gd name="adj" fmla="val 7317"/>
            </a:avLst>
          </a:prstGeom>
          <a:solidFill>
            <a:schemeClr val="accent1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6172200" y="3749040"/>
            <a:ext cx="1143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417 p-m</a:t>
            </a:r>
            <a:endParaRPr lang="en-US" sz="1800" dirty="0"/>
          </a:p>
        </p:txBody>
      </p:sp>
      <p:sp>
        <p:nvSpPr>
          <p:cNvPr id="20" name="Text 16"/>
          <p:cNvSpPr txBox="1"/>
          <p:nvPr/>
        </p:nvSpPr>
        <p:spPr>
          <a:xfrm>
            <a:off x="7315200" y="3749040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custo extra total: o efeito-cascata soma mais 217 p-m</a:t>
            </a:r>
            <a:endParaRPr lang="en-US" sz="1000" dirty="0"/>
          </a:p>
        </p:txBody>
      </p:sp>
      <p:sp>
        <p:nvSpPr>
          <p:cNvPr id="21" name="Anotação prazo"/>
          <p:cNvSpPr txBox="1"/>
          <p:nvPr/>
        </p:nvSpPr>
        <p:spPr>
          <a:xfrm>
            <a:off x="914400" y="181051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1"/>
                </a:solidFill>
              </a:rPr>
              <a:t>No prazo (mês 36):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chemeClr val="accent1"/>
                </a:solidFill>
              </a:rPr>
              <a:t>percebido 89% × real 80%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457200" y="44988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Modelo simplificado do ciclo de retrabalho feito pela equipe (simulacao.js): ilustra o mecanismo, não reproduz os dados da Ingalls.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(v)  A APRENDIZAGEM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Por que é tão difícil aprender com projetos</a:t>
            </a:r>
            <a:endParaRPr lang="en-US" sz="2600" dirty="0"/>
          </a:p>
        </p:txBody>
      </p:sp>
      <p:sp>
        <p:nvSpPr>
          <p:cNvPr id="4" name="Progresso i"/>
          <p:cNvSpPr txBox="1"/>
          <p:nvPr/>
        </p:nvSpPr>
        <p:spPr>
          <a:xfrm>
            <a:off x="6720840" y="274320"/>
            <a:ext cx="274320" cy="274320"/>
          </a:xfrm>
          <a:prstGeom prst="ellipse">
            <a:avLst/>
          </a:prstGeom>
          <a:noFill/>
          <a:ln w="9525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i</a:t>
            </a:r>
            <a:endParaRPr lang="en-US" sz="1000" dirty="0"/>
          </a:p>
        </p:txBody>
      </p:sp>
      <p:sp>
        <p:nvSpPr>
          <p:cNvPr id="5" name="Progresso ii"/>
          <p:cNvSpPr txBox="1"/>
          <p:nvPr/>
        </p:nvSpPr>
        <p:spPr>
          <a:xfrm>
            <a:off x="7059168" y="274320"/>
            <a:ext cx="274320" cy="274320"/>
          </a:xfrm>
          <a:prstGeom prst="ellipse">
            <a:avLst/>
          </a:prstGeom>
          <a:noFill/>
          <a:ln w="9525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ii</a:t>
            </a:r>
            <a:endParaRPr lang="en-US" sz="1000" dirty="0"/>
          </a:p>
        </p:txBody>
      </p:sp>
      <p:sp>
        <p:nvSpPr>
          <p:cNvPr id="6" name="Progresso iii"/>
          <p:cNvSpPr txBox="1"/>
          <p:nvPr/>
        </p:nvSpPr>
        <p:spPr>
          <a:xfrm>
            <a:off x="7397496" y="274320"/>
            <a:ext cx="274320" cy="274320"/>
          </a:xfrm>
          <a:prstGeom prst="ellipse">
            <a:avLst/>
          </a:prstGeom>
          <a:noFill/>
          <a:ln w="9525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iii</a:t>
            </a:r>
            <a:endParaRPr lang="en-US" sz="1000" dirty="0"/>
          </a:p>
        </p:txBody>
      </p:sp>
      <p:sp>
        <p:nvSpPr>
          <p:cNvPr id="7" name="Progresso iv"/>
          <p:cNvSpPr txBox="1"/>
          <p:nvPr/>
        </p:nvSpPr>
        <p:spPr>
          <a:xfrm>
            <a:off x="7735824" y="274320"/>
            <a:ext cx="274320" cy="274320"/>
          </a:xfrm>
          <a:prstGeom prst="ellipse">
            <a:avLst/>
          </a:prstGeom>
          <a:noFill/>
          <a:ln w="9525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iv</a:t>
            </a:r>
            <a:endParaRPr lang="en-US" sz="1000" dirty="0"/>
          </a:p>
        </p:txBody>
      </p:sp>
      <p:sp>
        <p:nvSpPr>
          <p:cNvPr id="8" name="Progresso v"/>
          <p:cNvSpPr txBox="1"/>
          <p:nvPr/>
        </p:nvSpPr>
        <p:spPr>
          <a:xfrm>
            <a:off x="8074152" y="274320"/>
            <a:ext cx="274320" cy="27432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v</a:t>
            </a:r>
            <a:endParaRPr lang="en-US" sz="1000" dirty="0"/>
          </a:p>
        </p:txBody>
      </p:sp>
      <p:sp>
        <p:nvSpPr>
          <p:cNvPr id="9" name="Progresso vi"/>
          <p:cNvSpPr txBox="1"/>
          <p:nvPr/>
        </p:nvSpPr>
        <p:spPr>
          <a:xfrm>
            <a:off x="8412480" y="274320"/>
            <a:ext cx="274320" cy="274320"/>
          </a:xfrm>
          <a:prstGeom prst="ellipse">
            <a:avLst/>
          </a:prstGeom>
          <a:noFill/>
          <a:ln w="9525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vi</a:t>
            </a:r>
            <a:endParaRPr lang="en-US" sz="1000" dirty="0"/>
          </a:p>
        </p:txBody>
      </p:sp>
      <p:sp>
        <p:nvSpPr>
          <p:cNvPr id="10" name="Painel Wason"/>
          <p:cNvSpPr/>
          <p:nvPr/>
        </p:nvSpPr>
        <p:spPr>
          <a:xfrm>
            <a:off x="457200" y="1298448"/>
            <a:ext cx="3154680" cy="3319272"/>
          </a:xfrm>
          <a:prstGeom prst="roundRect">
            <a:avLst>
              <a:gd name="adj" fmla="val 2319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5800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Teste de Wason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178308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Regra: “se há vogal de um lado, há número par do outro”. Quais cartas virar para testar a regra?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42245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Fonte: Sterman (2000, §1.3.7)</a:t>
            </a:r>
            <a:endParaRPr lang="en-US" sz="1000" dirty="0"/>
          </a:p>
        </p:txBody>
      </p:sp>
      <p:sp>
        <p:nvSpPr>
          <p:cNvPr id="14" name="Carta E"/>
          <p:cNvSpPr txBox="1"/>
          <p:nvPr/>
        </p:nvSpPr>
        <p:spPr>
          <a:xfrm>
            <a:off x="685800" y="2514600"/>
            <a:ext cx="566928" cy="822960"/>
          </a:xfrm>
          <a:prstGeom prst="roundRect">
            <a:avLst>
              <a:gd name="adj" fmla="val 12903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</a:t>
            </a:r>
            <a:endParaRPr lang="en-US" sz="2600" dirty="0"/>
          </a:p>
        </p:txBody>
      </p:sp>
      <p:sp>
        <p:nvSpPr>
          <p:cNvPr id="15" name="Carta K"/>
          <p:cNvSpPr txBox="1"/>
          <p:nvPr/>
        </p:nvSpPr>
        <p:spPr>
          <a:xfrm>
            <a:off x="1389888" y="2514600"/>
            <a:ext cx="566928" cy="822960"/>
          </a:xfrm>
          <a:prstGeom prst="roundRect">
            <a:avLst>
              <a:gd name="adj" fmla="val 12903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K</a:t>
            </a:r>
            <a:endParaRPr lang="en-US" sz="2600" dirty="0"/>
          </a:p>
        </p:txBody>
      </p:sp>
      <p:sp>
        <p:nvSpPr>
          <p:cNvPr id="16" name="Carta 4"/>
          <p:cNvSpPr txBox="1"/>
          <p:nvPr/>
        </p:nvSpPr>
        <p:spPr>
          <a:xfrm>
            <a:off x="2093976" y="2514600"/>
            <a:ext cx="566928" cy="822960"/>
          </a:xfrm>
          <a:prstGeom prst="roundRect">
            <a:avLst>
              <a:gd name="adj" fmla="val 12903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2600" dirty="0"/>
          </a:p>
        </p:txBody>
      </p:sp>
      <p:sp>
        <p:nvSpPr>
          <p:cNvPr id="17" name="Carta 7"/>
          <p:cNvSpPr txBox="1"/>
          <p:nvPr/>
        </p:nvSpPr>
        <p:spPr>
          <a:xfrm>
            <a:off x="2798064" y="2514600"/>
            <a:ext cx="566928" cy="822960"/>
          </a:xfrm>
          <a:prstGeom prst="roundRect">
            <a:avLst>
              <a:gd name="adj" fmla="val 12903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7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35204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Menos de 4%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 escolhem E e 7. A maioria vira o 4, que só pode confirmar a regra: buscamos confirmação, não refutação.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931920" y="129844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4"/>
                </a:solidFill>
              </a:rPr>
              <a:t>BARREIRA (CAP. 1)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5989320" y="1298448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4"/>
                </a:solidFill>
              </a:rPr>
              <a:t>COMO APARECEU NO CASO</a:t>
            </a:r>
            <a:endParaRPr lang="en-US" sz="1000" dirty="0"/>
          </a:p>
        </p:txBody>
      </p:sp>
      <p:sp>
        <p:nvSpPr>
          <p:cNvPr id="21" name="Barreira 1"/>
          <p:cNvSpPr txBox="1"/>
          <p:nvPr/>
        </p:nvSpPr>
        <p:spPr>
          <a:xfrm>
            <a:off x="3931920" y="1627632"/>
            <a:ext cx="1874520" cy="603504"/>
          </a:xfrm>
          <a:prstGeom prst="roundRect">
            <a:avLst>
              <a:gd name="adj" fmla="val 9091"/>
            </a:avLst>
          </a:prstGeom>
          <a:solidFill>
            <a:schemeClr val="accent1">
              <a:alpha val="12000"/>
            </a:schemeClr>
          </a:solidFill>
          <a:ln/>
        </p:spPr>
        <p:txBody>
          <a:bodyPr wrap="square" lIns="114300" tIns="0" rIns="11430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Viés de confirmação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989320" y="1627632"/>
            <a:ext cx="2697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 progresso relatado parecia bom: o retrabalho oculto não aparecia nos relatórios.</a:t>
            </a:r>
            <a:endParaRPr lang="en-US" sz="1200" dirty="0"/>
          </a:p>
        </p:txBody>
      </p:sp>
      <p:sp>
        <p:nvSpPr>
          <p:cNvPr id="23" name="Barreira 2"/>
          <p:cNvSpPr txBox="1"/>
          <p:nvPr/>
        </p:nvSpPr>
        <p:spPr>
          <a:xfrm>
            <a:off x="3931920" y="2386584"/>
            <a:ext cx="1874520" cy="603504"/>
          </a:xfrm>
          <a:prstGeom prst="roundRect">
            <a:avLst>
              <a:gd name="adj" fmla="val 9091"/>
            </a:avLst>
          </a:prstGeom>
          <a:solidFill>
            <a:schemeClr val="accent1">
              <a:alpha val="12000"/>
            </a:schemeClr>
          </a:solidFill>
          <a:ln/>
        </p:spPr>
        <p:txBody>
          <a:bodyPr wrap="square" lIns="114300" tIns="0" rIns="11430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Rotinas defensivas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989320" y="2386584"/>
            <a:ext cx="2697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Disputa adversarial Marinha × estaleiro: cada parte defendia sua versão sem testar hipóteses rivais.</a:t>
            </a:r>
            <a:endParaRPr lang="en-US" sz="1200" dirty="0"/>
          </a:p>
        </p:txBody>
      </p:sp>
      <p:sp>
        <p:nvSpPr>
          <p:cNvPr id="25" name="Barreira 3"/>
          <p:cNvSpPr txBox="1"/>
          <p:nvPr/>
        </p:nvSpPr>
        <p:spPr>
          <a:xfrm>
            <a:off x="3931920" y="3145536"/>
            <a:ext cx="1874520" cy="603504"/>
          </a:xfrm>
          <a:prstGeom prst="roundRect">
            <a:avLst>
              <a:gd name="adj" fmla="val 9091"/>
            </a:avLst>
          </a:prstGeom>
          <a:solidFill>
            <a:schemeClr val="accent1">
              <a:alpha val="12000"/>
            </a:schemeClr>
          </a:solidFill>
          <a:ln/>
        </p:spPr>
        <p:txBody>
          <a:bodyPr wrap="square" lIns="114300" tIns="0" rIns="11430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Falha de implementação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989320" y="3145536"/>
            <a:ext cx="2697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“Contratar mais gente” virou novatos, congestionamento e trabalho fora de sequência.</a:t>
            </a:r>
            <a:endParaRPr lang="en-US" sz="1200" dirty="0"/>
          </a:p>
        </p:txBody>
      </p:sp>
      <p:sp>
        <p:nvSpPr>
          <p:cNvPr id="27" name="Barreira 4"/>
          <p:cNvSpPr txBox="1"/>
          <p:nvPr/>
        </p:nvSpPr>
        <p:spPr>
          <a:xfrm>
            <a:off x="3931920" y="3904488"/>
            <a:ext cx="1874520" cy="603504"/>
          </a:xfrm>
          <a:prstGeom prst="roundRect">
            <a:avLst>
              <a:gd name="adj" fmla="val 9091"/>
            </a:avLst>
          </a:prstGeom>
          <a:solidFill>
            <a:schemeClr val="accent1">
              <a:alpha val="12000"/>
            </a:schemeClr>
          </a:solidFill>
          <a:ln/>
        </p:spPr>
        <p:txBody>
          <a:bodyPr wrap="square" lIns="114300" tIns="0" rIns="11430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Irreversibilidade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989320" y="3904488"/>
            <a:ext cx="2697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Ninguém pode repetir um programa de destróieres para testar outra política.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(v)  A APRENDIZAGEM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A simulação criou o experimento impossível</a:t>
            </a:r>
            <a:endParaRPr lang="en-US" sz="2600" dirty="0"/>
          </a:p>
        </p:txBody>
      </p:sp>
      <p:sp>
        <p:nvSpPr>
          <p:cNvPr id="4" name="Progresso i"/>
          <p:cNvSpPr txBox="1"/>
          <p:nvPr/>
        </p:nvSpPr>
        <p:spPr>
          <a:xfrm>
            <a:off x="6720840" y="274320"/>
            <a:ext cx="274320" cy="274320"/>
          </a:xfrm>
          <a:prstGeom prst="ellipse">
            <a:avLst/>
          </a:prstGeom>
          <a:noFill/>
          <a:ln w="9525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i</a:t>
            </a:r>
            <a:endParaRPr lang="en-US" sz="1000" dirty="0"/>
          </a:p>
        </p:txBody>
      </p:sp>
      <p:sp>
        <p:nvSpPr>
          <p:cNvPr id="5" name="Progresso ii"/>
          <p:cNvSpPr txBox="1"/>
          <p:nvPr/>
        </p:nvSpPr>
        <p:spPr>
          <a:xfrm>
            <a:off x="7059168" y="274320"/>
            <a:ext cx="274320" cy="274320"/>
          </a:xfrm>
          <a:prstGeom prst="ellipse">
            <a:avLst/>
          </a:prstGeom>
          <a:noFill/>
          <a:ln w="9525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ii</a:t>
            </a:r>
            <a:endParaRPr lang="en-US" sz="1000" dirty="0"/>
          </a:p>
        </p:txBody>
      </p:sp>
      <p:sp>
        <p:nvSpPr>
          <p:cNvPr id="6" name="Progresso iii"/>
          <p:cNvSpPr txBox="1"/>
          <p:nvPr/>
        </p:nvSpPr>
        <p:spPr>
          <a:xfrm>
            <a:off x="7397496" y="274320"/>
            <a:ext cx="274320" cy="274320"/>
          </a:xfrm>
          <a:prstGeom prst="ellipse">
            <a:avLst/>
          </a:prstGeom>
          <a:noFill/>
          <a:ln w="9525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iii</a:t>
            </a:r>
            <a:endParaRPr lang="en-US" sz="1000" dirty="0"/>
          </a:p>
        </p:txBody>
      </p:sp>
      <p:sp>
        <p:nvSpPr>
          <p:cNvPr id="7" name="Progresso iv"/>
          <p:cNvSpPr txBox="1"/>
          <p:nvPr/>
        </p:nvSpPr>
        <p:spPr>
          <a:xfrm>
            <a:off x="7735824" y="274320"/>
            <a:ext cx="274320" cy="274320"/>
          </a:xfrm>
          <a:prstGeom prst="ellipse">
            <a:avLst/>
          </a:prstGeom>
          <a:noFill/>
          <a:ln w="9525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iv</a:t>
            </a:r>
            <a:endParaRPr lang="en-US" sz="1000" dirty="0"/>
          </a:p>
        </p:txBody>
      </p:sp>
      <p:sp>
        <p:nvSpPr>
          <p:cNvPr id="8" name="Progresso v"/>
          <p:cNvSpPr txBox="1"/>
          <p:nvPr/>
        </p:nvSpPr>
        <p:spPr>
          <a:xfrm>
            <a:off x="8074152" y="274320"/>
            <a:ext cx="274320" cy="27432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v</a:t>
            </a:r>
            <a:endParaRPr lang="en-US" sz="1000" dirty="0"/>
          </a:p>
        </p:txBody>
      </p:sp>
      <p:sp>
        <p:nvSpPr>
          <p:cNvPr id="9" name="Progresso vi"/>
          <p:cNvSpPr txBox="1"/>
          <p:nvPr/>
        </p:nvSpPr>
        <p:spPr>
          <a:xfrm>
            <a:off x="8412480" y="274320"/>
            <a:ext cx="274320" cy="274320"/>
          </a:xfrm>
          <a:prstGeom prst="ellipse">
            <a:avLst/>
          </a:prstGeom>
          <a:noFill/>
          <a:ln w="9525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vi</a:t>
            </a:r>
            <a:endParaRPr lang="en-US" sz="1000" dirty="0"/>
          </a:p>
        </p:txBody>
      </p:sp>
      <p:sp>
        <p:nvSpPr>
          <p:cNvPr id="10" name="Coluna mundo real"/>
          <p:cNvSpPr/>
          <p:nvPr/>
        </p:nvSpPr>
        <p:spPr>
          <a:xfrm>
            <a:off x="2011680" y="1261872"/>
            <a:ext cx="3017520" cy="2697480"/>
          </a:xfrm>
          <a:prstGeom prst="roundRect">
            <a:avLst>
              <a:gd name="adj" fmla="val 2712"/>
            </a:avLst>
          </a:prstGeom>
          <a:solidFill>
            <a:schemeClr val="bg2"/>
          </a:solidFill>
          <a:ln/>
        </p:spPr>
      </p:sp>
      <p:sp>
        <p:nvSpPr>
          <p:cNvPr id="11" name="Coluna mundo virtual"/>
          <p:cNvSpPr/>
          <p:nvPr/>
        </p:nvSpPr>
        <p:spPr>
          <a:xfrm>
            <a:off x="5166360" y="1261872"/>
            <a:ext cx="3520440" cy="2697480"/>
          </a:xfrm>
          <a:prstGeom prst="roundRect">
            <a:avLst>
              <a:gd name="adj" fmla="val 2712"/>
            </a:avLst>
          </a:prstGeom>
          <a:solidFill>
            <a:schemeClr val="tx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194560" y="13258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Mundo real: o estaleiro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349240" y="13258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Mundo virtual: o modelo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16916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Experimentos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194560" y="16916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Impossíveis ou irreversíveis.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349240" y="169164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Controlados e repetíveis, inclusive o cenário “sem mudanças”.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22402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Tempo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2194560" y="22402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Anos até ver as consequências.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349240" y="224028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Anos de projeto comprimidos em minutos.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278892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Feedback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2194560" y="27889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Lento, ambíguo e contestado.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349240" y="278892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Imediato, completo e mensurável.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333756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Estrutura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2194560" y="33375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Caixa-preta: cada lado com seu modelo mental.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349240" y="33375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Caixa aberta: premissas explícitas para as duas partes.</a:t>
            </a:r>
            <a:endParaRPr lang="en-US" sz="1200" dirty="0"/>
          </a:p>
        </p:txBody>
      </p:sp>
      <p:pic>
        <p:nvPicPr>
          <p:cNvPr id="26" name="Image 0" descr="Citaçã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114800"/>
            <a:ext cx="329184" cy="329184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914400" y="40690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“A simulação é a única forma prática de testar esses modelos.”</a:t>
            </a:r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 — Sterman (2000, p. 37)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3"/>
                </a:solidFill>
              </a:rPr>
              <a:t>(vi)  AS CONCLUSÕES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O que levamos deste caso</a:t>
            </a:r>
            <a:endParaRPr lang="en-US" sz="2600" dirty="0"/>
          </a:p>
        </p:txBody>
      </p:sp>
      <p:sp>
        <p:nvSpPr>
          <p:cNvPr id="4" name="Progresso i"/>
          <p:cNvSpPr txBox="1"/>
          <p:nvPr/>
        </p:nvSpPr>
        <p:spPr>
          <a:xfrm>
            <a:off x="6720840" y="274320"/>
            <a:ext cx="274320" cy="274320"/>
          </a:xfrm>
          <a:prstGeom prst="ellipse">
            <a:avLst/>
          </a:prstGeom>
          <a:noFill/>
          <a:ln w="9525">
            <a:solidFill>
              <a:schemeClr val="bg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i</a:t>
            </a:r>
            <a:endParaRPr lang="en-US" sz="1000" dirty="0"/>
          </a:p>
        </p:txBody>
      </p:sp>
      <p:sp>
        <p:nvSpPr>
          <p:cNvPr id="5" name="Progresso ii"/>
          <p:cNvSpPr txBox="1"/>
          <p:nvPr/>
        </p:nvSpPr>
        <p:spPr>
          <a:xfrm>
            <a:off x="7059168" y="274320"/>
            <a:ext cx="274320" cy="274320"/>
          </a:xfrm>
          <a:prstGeom prst="ellipse">
            <a:avLst/>
          </a:prstGeom>
          <a:noFill/>
          <a:ln w="9525">
            <a:solidFill>
              <a:schemeClr val="bg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ii</a:t>
            </a:r>
            <a:endParaRPr lang="en-US" sz="1000" dirty="0"/>
          </a:p>
        </p:txBody>
      </p:sp>
      <p:sp>
        <p:nvSpPr>
          <p:cNvPr id="6" name="Progresso iii"/>
          <p:cNvSpPr txBox="1"/>
          <p:nvPr/>
        </p:nvSpPr>
        <p:spPr>
          <a:xfrm>
            <a:off x="7397496" y="274320"/>
            <a:ext cx="274320" cy="274320"/>
          </a:xfrm>
          <a:prstGeom prst="ellipse">
            <a:avLst/>
          </a:prstGeom>
          <a:noFill/>
          <a:ln w="9525">
            <a:solidFill>
              <a:schemeClr val="bg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iii</a:t>
            </a:r>
            <a:endParaRPr lang="en-US" sz="1000" dirty="0"/>
          </a:p>
        </p:txBody>
      </p:sp>
      <p:sp>
        <p:nvSpPr>
          <p:cNvPr id="7" name="Progresso iv"/>
          <p:cNvSpPr txBox="1"/>
          <p:nvPr/>
        </p:nvSpPr>
        <p:spPr>
          <a:xfrm>
            <a:off x="7735824" y="274320"/>
            <a:ext cx="274320" cy="274320"/>
          </a:xfrm>
          <a:prstGeom prst="ellipse">
            <a:avLst/>
          </a:prstGeom>
          <a:noFill/>
          <a:ln w="9525">
            <a:solidFill>
              <a:schemeClr val="bg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iv</a:t>
            </a:r>
            <a:endParaRPr lang="en-US" sz="1000" dirty="0"/>
          </a:p>
        </p:txBody>
      </p:sp>
      <p:sp>
        <p:nvSpPr>
          <p:cNvPr id="8" name="Progresso v"/>
          <p:cNvSpPr txBox="1"/>
          <p:nvPr/>
        </p:nvSpPr>
        <p:spPr>
          <a:xfrm>
            <a:off x="8074152" y="274320"/>
            <a:ext cx="274320" cy="274320"/>
          </a:xfrm>
          <a:prstGeom prst="ellipse">
            <a:avLst/>
          </a:prstGeom>
          <a:noFill/>
          <a:ln w="9525">
            <a:solidFill>
              <a:schemeClr val="bg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v</a:t>
            </a:r>
            <a:endParaRPr lang="en-US" sz="1000" dirty="0"/>
          </a:p>
        </p:txBody>
      </p:sp>
      <p:sp>
        <p:nvSpPr>
          <p:cNvPr id="9" name="Progresso vi"/>
          <p:cNvSpPr txBox="1"/>
          <p:nvPr/>
        </p:nvSpPr>
        <p:spPr>
          <a:xfrm>
            <a:off x="8412480" y="274320"/>
            <a:ext cx="274320" cy="274320"/>
          </a:xfrm>
          <a:prstGeom prst="ellipse">
            <a:avLst/>
          </a:prstGeom>
          <a:solidFill>
            <a:schemeClr val="accent3"/>
          </a:solidFill>
          <a:ln w="952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vi</a:t>
            </a:r>
            <a:endParaRPr lang="en-US" sz="1000" dirty="0"/>
          </a:p>
        </p:txBody>
      </p:sp>
      <p:sp>
        <p:nvSpPr>
          <p:cNvPr id="10" name="Ícone conclusão 1"/>
          <p:cNvSpPr/>
          <p:nvPr/>
        </p:nvSpPr>
        <p:spPr>
          <a:xfrm>
            <a:off x="457200" y="1298448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1" name="Image 0" descr="Atrasos são endógeno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08176"/>
            <a:ext cx="237744" cy="237744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097280" y="1271016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Atrasos são endógenos. 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Emergem do ciclo de retrabalho e dos laços de realimentação, não só de eventos externos.</a:t>
            </a:r>
            <a:endParaRPr lang="en-US" sz="1500" dirty="0"/>
          </a:p>
        </p:txBody>
      </p:sp>
      <p:sp>
        <p:nvSpPr>
          <p:cNvPr id="13" name="Ícone conclusão 2"/>
          <p:cNvSpPr/>
          <p:nvPr/>
        </p:nvSpPr>
        <p:spPr>
          <a:xfrm>
            <a:off x="457200" y="192024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4" name="Image 1" descr="Mudanças custam mais do que parecem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029968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097280" y="1892808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Mudanças custam mais do que parecem. 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O efeito-cascata pode — e deve — ser quantificado e precificado.</a:t>
            </a:r>
            <a:endParaRPr lang="en-US" sz="1500" dirty="0"/>
          </a:p>
        </p:txBody>
      </p:sp>
      <p:sp>
        <p:nvSpPr>
          <p:cNvPr id="16" name="Ícone conclusão 3"/>
          <p:cNvSpPr/>
          <p:nvPr/>
        </p:nvSpPr>
        <p:spPr>
          <a:xfrm>
            <a:off x="457200" y="2542032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7" name="Image 2" descr="A solução intuitiva vira problema.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651760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097280" y="2514600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 solução intuitiva vira problema. 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Mais gente e mais horas aliviam hoje e pioram amanhã: resistência a políticas.</a:t>
            </a:r>
            <a:endParaRPr lang="en-US" sz="1500" dirty="0"/>
          </a:p>
        </p:txBody>
      </p:sp>
      <p:sp>
        <p:nvSpPr>
          <p:cNvPr id="19" name="Ícone conclusão 4"/>
          <p:cNvSpPr/>
          <p:nvPr/>
        </p:nvSpPr>
        <p:spPr>
          <a:xfrm>
            <a:off x="457200" y="3163824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0" name="Image 3" descr="Retrabalho oculto engana.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3273552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097280" y="3136392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Retrabalho oculto engana. 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Medir a qualidade e descobrir erros cedo vale mais do que acelerar.</a:t>
            </a:r>
            <a:endParaRPr lang="en-US" sz="1500" dirty="0"/>
          </a:p>
        </p:txBody>
      </p:sp>
      <p:sp>
        <p:nvSpPr>
          <p:cNvPr id="22" name="Ícone conclusão 5"/>
          <p:cNvSpPr/>
          <p:nvPr/>
        </p:nvSpPr>
        <p:spPr>
          <a:xfrm>
            <a:off x="457200" y="3785616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3" name="Image 4" descr="Simular é aprender.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3895344"/>
            <a:ext cx="237744" cy="237744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097280" y="3758184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Simular é aprender. 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O modelo viabilizou o acordo e virou ferramenta de gestão.</a:t>
            </a:r>
            <a:endParaRPr lang="en-US" sz="1500" dirty="0"/>
          </a:p>
        </p:txBody>
      </p:sp>
      <p:sp>
        <p:nvSpPr>
          <p:cNvPr id="25" name="Text 18"/>
          <p:cNvSpPr txBox="1"/>
          <p:nvPr/>
        </p:nvSpPr>
        <p:spPr>
          <a:xfrm>
            <a:off x="5029200" y="441655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i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Obrigado! Perguntas?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FONTES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Referências</a:t>
            </a:r>
            <a:endParaRPr lang="en-US" sz="2600" dirty="0"/>
          </a:p>
        </p:txBody>
      </p:sp>
      <p:sp>
        <p:nvSpPr>
          <p:cNvPr id="4" name="Ícone referências"/>
          <p:cNvSpPr/>
          <p:nvPr/>
        </p:nvSpPr>
        <p:spPr>
          <a:xfrm>
            <a:off x="457200" y="1371600"/>
            <a:ext cx="457200" cy="457200"/>
          </a:xfrm>
          <a:prstGeom prst="ellipse">
            <a:avLst/>
          </a:prstGeom>
          <a:solidFill>
            <a:schemeClr val="tx2">
              <a:alpha val="15000"/>
            </a:schemeClr>
          </a:solidFill>
          <a:ln/>
        </p:spPr>
      </p:sp>
      <p:pic>
        <p:nvPicPr>
          <p:cNvPr id="5" name="Image 0" descr="Livr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237744" cy="237744"/>
          </a:xfrm>
          <a:prstGeom prst="rect">
            <a:avLst/>
          </a:prstGeom>
        </p:spPr>
      </p:pic>
      <p:sp>
        <p:nvSpPr>
          <p:cNvPr id="6" name="Lista de referências"/>
          <p:cNvSpPr txBox="1"/>
          <p:nvPr/>
        </p:nvSpPr>
        <p:spPr>
          <a:xfrm>
            <a:off x="1097280" y="1371600"/>
            <a:ext cx="75895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STERMAN, J. D. </a:t>
            </a:r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Business Dynamics: Systems Thinking and Modeling for a Complex World. Boston: Irwin/McGraw-Hill, 2000. Cap. 1 (§1.3.7–1.5) e cap. 2 (§2.3).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COOPER, K. G. </a:t>
            </a:r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Naval ship production: a claim settled and a framework built. Interfaces, v. 10, n. 6, p. 20–36, 1980.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COOPER, K. G. </a:t>
            </a:r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The rework cycle: why projects are mismanaged. PM Network, v. 7, n. 2, p. 5–7, 1993.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WASON, P. C.; JOHNSON-LAIRD, P. N. </a:t>
            </a:r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Psychology of Reasoning: Structure and Content. Cambridge, MA: Harvard University Press, 1972.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ARGYRIS, C. </a:t>
            </a:r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Strategy, Change and Defensive Routines. Boston: Pitman, 1985.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097280" y="416052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Simulação ilustrativa: modelo simplificado do ciclo de retrabalho construído pela equipe (simulacao.js), apenas para fins didáticos.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staleiro">
  <a:themeElements>
    <a:clrScheme name="Estaleiro">
      <a:dk1>
        <a:srgbClr val="0E1A2B"/>
      </a:dk1>
      <a:lt1>
        <a:srgbClr val="FFFFFF"/>
      </a:lt1>
      <a:dk2>
        <a:srgbClr val="16365C"/>
      </a:dk2>
      <a:lt2>
        <a:srgbClr val="EDF1F5"/>
      </a:lt2>
      <a:accent1>
        <a:srgbClr val="C8461B"/>
      </a:accent1>
      <a:accent2>
        <a:srgbClr val="1F7A8C"/>
      </a:accent2>
      <a:accent3>
        <a:srgbClr val="F2B134"/>
      </a:accent3>
      <a:accent4>
        <a:srgbClr val="5A6878"/>
      </a:accent4>
      <a:accent5>
        <a:srgbClr val="2E5E8E"/>
      </a:accent5>
      <a:accent6>
        <a:srgbClr val="A23B2A"/>
      </a:accent6>
      <a:hlink>
        <a:srgbClr val="1F7A8C"/>
      </a:hlink>
      <a:folHlink>
        <a:srgbClr val="5A6878"/>
      </a:folHlink>
    </a:clrScheme>
    <a:fontScheme name="Estaleiro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 Time and Under Budget — Caso B</dc:title>
  <dc:subject>A dinâmica da gestão de projetos (Sterman, 2000, §2.3)</dc:subject>
  <dc:creator>Equipe — Análise Dinâmica de Sistemas</dc:creator>
  <cp:lastModifiedBy>Equipe — Análise Dinâmica de Sistemas</cp:lastModifiedBy>
  <cp:revision>1</cp:revision>
  <dcterms:created xsi:type="dcterms:W3CDTF">2026-10-05T17:15:31Z</dcterms:created>
  <dcterms:modified xsi:type="dcterms:W3CDTF">2026-10-05T17:15:31Z</dcterms:modified>
</cp:coreProperties>
</file>